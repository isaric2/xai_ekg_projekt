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Pozdrav. Predstavljam rad o metodama objašnjivosti konvolucijskih neuronskih mreža, na primjeru klasifikacije EKG spektrograma. Cilj nije tačnost modela, nego razumijevanje njegovih odluka.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Naslov ovog slajda je naslov originalnog LIME rada iz 2016. To je centralno pitanje cijele oblasti: model daje tačan odgovor, ali zašto bismo mu vjerovali ako ne znamo razlog? U medicini odgovor bez razloga nije dovoljan.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je netransparentnost CNN-a. Cilj rada nije maksimalna tačnost, nego evaluacija kvaliteta objašnjenja koja XAI metode daju — koliko su konzistentne i intuitivne, i da li model gleda smislene regije signala.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Eksperimentalna postavka. Koristila sam javnu PhysioNet bazu EKG zapisa. Ručno implementiranom STFT transformišem signale u spektrograme 224x224 koji ulaze u mrežu kao slike. Mreža je ResNet50 pretrenirana na ImageNet-u, prilagođena feature extraction strategijom za četiri klase.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Obradila sam četiri reprezentativne metode kroz dva metodološka pristupa. Gradijentne koriste gradijent izlaza modela. Perturbacijske mijenjaju ulaz i posmatraju efekat na izlaz. Sve četiri su lokalne — objašnjavaju jednu konkretnu predikciju.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Grad-CAM. Ideja: za svaku regiju odrediti važnost preko gradijenta izlaza u odnosu na aktivacije zadnjeg konvolucijskog sloja, jer taj sloj još čuva prostornu informaciju. Tri koraka: aktivacije, težine filtera kao prosjek gradijenta, pa težinska suma plus ReLU. Glatka mapa, niska složenost, ali gruba lokalizacija.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Integrated Gradients rješava problem zasićenog gradijenta — u jednoj tački gradijent može biti nula iako je piksel bitan. Rješenje: računati gradijent duž putanje od crne referentne slike do stvarne i sabrati doprinose. Zadovoljava osjetljivost i invarijantnost, ali je vizuelno najteži za interpretaciju.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LIME ne gleda u mrežu. Sliku dijeli na superpiksele, generiše perturbirane verzije gašenjem dijelova, propušta ih kroz model i uči jednostavan ponderisani linearni model lokalno. Žute konture su pozitivno relevantni superpikseli. Glavna mana je nestabilnost zbog nasumičnih perturbacija i zavisnost od segmentacije.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SHAP se zasniva na Shapley vrijednostima iz teorije igara. Pikseli su igrači, predikcija je dobit, a doprinos svakog piksela je njegova Shapley vrijednost — prosjek marginalnog doprinosa kroz sve podskupove. Zadovoljava četiri matematička svojstva, ali je računski preskup pa nije implementiran nad spektrogramima.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Kod ispravnih predikcija sve tri implementirane metode usmjeravaju pažnju na donji dio spektrograma — niske frekvencije gdje je QRS kompleks. To je fiziološki smisleno. Grad-CAM daje glatku mapu, LIME izdvaja superpiksele, Integrated Gradients pikselne doprinose.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Ovo je poenta rada. Objašnjava se predikcija, ne stvarna klasa. AFib je pogrešno klasifikovan kao normalan sa sigurnošću 0.93 — metode pokazuju da je model reagovao na vizuelnu sličnost sa stabilnim niskofrekventnim obrascima. Visoka sigurnost ne garantuje ispravan razlog. Tu XAI otkriva slabosti modela.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Zaključak: kod ispravnih predikcija sve tri metode gledaju smislene niske frekvencije. Razlikuju se po tipu objašnjenja. Kod grešaka pomažu da uočimo kada model reaguje na šum. XAI ne zamjenjuje medicinsku interpretaciju, ali daje transparentnost. Hvala na pažnji.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1047750" y="914400"/>
            <a:ext cx="8745832" cy="33528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A3FB0"/>
                </a:solidFill>
                <a:latin typeface="Courier New" pitchFamily="34" charset="0"/>
                <a:ea typeface="Courier New" pitchFamily="34" charset="-122"/>
                <a:cs typeface="Courier New" pitchFamily="34" charset="-120"/>
              </a:rPr>
              <a:t>UDOS · OBJAŠNJIVA VJEŠTAČKA INTELIGENCIJA (XAI)</a:t>
            </a:r>
            <a:endParaRPr lang="en-US" sz="1800" dirty="0"/>
          </a:p>
        </p:txBody>
      </p:sp>
      <p:sp>
        <p:nvSpPr>
          <p:cNvPr id="3" name="Text 1"/>
          <p:cNvSpPr/>
          <p:nvPr/>
        </p:nvSpPr>
        <p:spPr>
          <a:xfrm>
            <a:off x="12672774" y="914400"/>
            <a:ext cx="5024223" cy="33528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9A958C"/>
                </a:solidFill>
                <a:latin typeface="Courier New" pitchFamily="34" charset="0"/>
                <a:ea typeface="Courier New" pitchFamily="34" charset="-122"/>
                <a:cs typeface="Courier New" pitchFamily="34" charset="-120"/>
              </a:rPr>
              <a:t>RESNET50 · EKG SPEKTROGRAMI</a:t>
            </a:r>
            <a:endParaRPr lang="en-US" sz="1800" dirty="0"/>
          </a:p>
        </p:txBody>
      </p:sp>
      <p:sp>
        <p:nvSpPr>
          <p:cNvPr id="4" name="Shape 2"/>
          <p:cNvSpPr/>
          <p:nvPr/>
        </p:nvSpPr>
        <p:spPr>
          <a:xfrm>
            <a:off x="1047750" y="2983111"/>
            <a:ext cx="1143000" cy="57150"/>
          </a:xfrm>
          <a:prstGeom prst="rect">
            <a:avLst/>
          </a:prstGeom>
          <a:solidFill>
            <a:srgbClr val="6A3FB0"/>
          </a:solidFill>
          <a:ln/>
        </p:spPr>
      </p:sp>
      <p:sp>
        <p:nvSpPr>
          <p:cNvPr id="5" name="Text 3"/>
          <p:cNvSpPr/>
          <p:nvPr/>
        </p:nvSpPr>
        <p:spPr>
          <a:xfrm>
            <a:off x="1047750" y="3421261"/>
            <a:ext cx="15304770" cy="1882378"/>
          </a:xfrm>
          <a:prstGeom prst="rect">
            <a:avLst/>
          </a:prstGeom>
          <a:noFill/>
          <a:ln/>
        </p:spPr>
        <p:txBody>
          <a:bodyPr wrap="square" lIns="25400" tIns="25400" rIns="25400" bIns="25400" rtlCol="0" anchor="t">
            <a:normAutofit/>
          </a:bodyPr>
          <a:lstStyle/>
          <a:p>
            <a:pPr algn="l" indent="0" marL="0">
              <a:lnSpc>
                <a:spcPct val="103000"/>
              </a:lnSpc>
              <a:buNone/>
            </a:pPr>
            <a:r>
              <a:rPr lang="en-US" sz="7050" b="1" spc="-106" kern="0" dirty="0">
                <a:solidFill>
                  <a:srgbClr val="221F29"/>
                </a:solidFill>
                <a:latin typeface="Georgia" pitchFamily="34" charset="0"/>
                <a:ea typeface="Georgia" pitchFamily="34" charset="-122"/>
                <a:cs typeface="Georgia" pitchFamily="34" charset="-120"/>
              </a:rPr>
              <a:t>Metode objašnjivosti konvolucijskih neuronskih mreža</a:t>
            </a:r>
            <a:endParaRPr lang="en-US" sz="7050" dirty="0"/>
          </a:p>
        </p:txBody>
      </p:sp>
      <p:sp>
        <p:nvSpPr>
          <p:cNvPr id="6" name="Text 4"/>
          <p:cNvSpPr/>
          <p:nvPr/>
        </p:nvSpPr>
        <p:spPr>
          <a:xfrm>
            <a:off x="1047750" y="5551289"/>
            <a:ext cx="12165330" cy="1043940"/>
          </a:xfrm>
          <a:prstGeom prst="rect">
            <a:avLst/>
          </a:prstGeom>
          <a:noFill/>
          <a:ln/>
        </p:spPr>
        <p:txBody>
          <a:bodyPr wrap="square" lIns="25400" tIns="25400" rIns="25400" bIns="25400" rtlCol="0" anchor="t">
            <a:normAutofit/>
          </a:bodyPr>
          <a:lstStyle/>
          <a:p>
            <a:pPr algn="l" indent="0" marL="0">
              <a:lnSpc>
                <a:spcPct val="132000"/>
              </a:lnSpc>
              <a:buNone/>
            </a:pPr>
            <a:r>
              <a:rPr lang="en-US" sz="3000" dirty="0">
                <a:solidFill>
                  <a:srgbClr val="56525B"/>
                </a:solidFill>
                <a:latin typeface="Arial" pitchFamily="34" charset="0"/>
                <a:ea typeface="Arial" pitchFamily="34" charset="-122"/>
                <a:cs typeface="Arial" pitchFamily="34" charset="-120"/>
              </a:rPr>
              <a:t>Interpretacija odluka CNN modela na primjeru klasifikacije EKG spektrograma</a:t>
            </a:r>
            <a:endParaRPr lang="en-US" sz="3000" dirty="0"/>
          </a:p>
        </p:txBody>
      </p:sp>
      <p:sp>
        <p:nvSpPr>
          <p:cNvPr id="7" name="Shape 5"/>
          <p:cNvSpPr/>
          <p:nvPr/>
        </p:nvSpPr>
        <p:spPr>
          <a:xfrm>
            <a:off x="1047750" y="8328660"/>
            <a:ext cx="16192500" cy="9525"/>
          </a:xfrm>
          <a:prstGeom prst="rect">
            <a:avLst/>
          </a:prstGeom>
          <a:solidFill>
            <a:srgbClr val="DDD7CB"/>
          </a:solidFill>
          <a:ln/>
        </p:spPr>
      </p:sp>
      <p:sp>
        <p:nvSpPr>
          <p:cNvPr id="8" name="Text 6"/>
          <p:cNvSpPr/>
          <p:nvPr/>
        </p:nvSpPr>
        <p:spPr>
          <a:xfrm>
            <a:off x="1047750" y="8622030"/>
            <a:ext cx="1718572" cy="335280"/>
          </a:xfrm>
          <a:prstGeom prst="rect">
            <a:avLst/>
          </a:prstGeom>
          <a:noFill/>
          <a:ln/>
        </p:spPr>
        <p:txBody>
          <a:bodyPr wrap="square" lIns="25400" tIns="25400" rIns="25400" bIns="25400" rtlCol="0" anchor="t">
            <a:normAutofit/>
          </a:bodyPr>
          <a:lstStyle/>
          <a:p>
            <a:pPr algn="l" indent="0" marL="0">
              <a:buNone/>
            </a:pPr>
            <a:r>
              <a:rPr lang="en-US" sz="1800" dirty="0">
                <a:solidFill>
                  <a:srgbClr val="8A857C"/>
                </a:solidFill>
                <a:latin typeface="Arial" pitchFamily="34" charset="0"/>
                <a:ea typeface="Arial" pitchFamily="34" charset="-122"/>
                <a:cs typeface="Arial" pitchFamily="34" charset="-120"/>
              </a:rPr>
              <a:t>Autor</a:t>
            </a:r>
            <a:endParaRPr lang="en-US" sz="1800" dirty="0"/>
          </a:p>
        </p:txBody>
      </p:sp>
      <p:sp>
        <p:nvSpPr>
          <p:cNvPr id="9" name="Text 7"/>
          <p:cNvSpPr/>
          <p:nvPr/>
        </p:nvSpPr>
        <p:spPr>
          <a:xfrm>
            <a:off x="1047750" y="8976360"/>
            <a:ext cx="1718572" cy="434340"/>
          </a:xfrm>
          <a:prstGeom prst="rect">
            <a:avLst/>
          </a:prstGeom>
          <a:noFill/>
          <a:ln/>
        </p:spPr>
        <p:txBody>
          <a:bodyPr wrap="square" lIns="25400" tIns="25400" rIns="25400" bIns="25400" rtlCol="0" anchor="t">
            <a:normAutofit/>
          </a:bodyPr>
          <a:lstStyle/>
          <a:p>
            <a:pPr algn="l" indent="0" marL="0">
              <a:buNone/>
            </a:pPr>
            <a:r>
              <a:rPr lang="en-US" sz="2700" b="1" dirty="0">
                <a:solidFill>
                  <a:srgbClr val="221F29"/>
                </a:solidFill>
                <a:latin typeface="Arial" pitchFamily="34" charset="0"/>
                <a:ea typeface="Arial" pitchFamily="34" charset="-122"/>
                <a:cs typeface="Arial" pitchFamily="34" charset="-120"/>
              </a:rPr>
              <a:t>Irma Šarić</a:t>
            </a:r>
            <a:endParaRPr lang="en-US" sz="2700" dirty="0"/>
          </a:p>
        </p:txBody>
      </p:sp>
      <p:sp>
        <p:nvSpPr>
          <p:cNvPr id="10" name="Shape 8"/>
          <p:cNvSpPr/>
          <p:nvPr/>
        </p:nvSpPr>
        <p:spPr>
          <a:xfrm>
            <a:off x="10317481" y="8831580"/>
            <a:ext cx="1493520" cy="541020"/>
          </a:xfrm>
          <a:prstGeom prst="roundRect">
            <a:avLst>
              <a:gd name="adj" fmla="val 50000"/>
            </a:avLst>
          </a:prstGeom>
          <a:solidFill>
            <a:srgbClr val="EFE9F8"/>
          </a:solidFill>
          <a:ln w="7620">
            <a:solidFill>
              <a:srgbClr val="D6CFE9"/>
            </a:solidFill>
            <a:prstDash val="solid"/>
          </a:ln>
        </p:spPr>
      </p:sp>
      <p:sp>
        <p:nvSpPr>
          <p:cNvPr id="11" name="Text 9"/>
          <p:cNvSpPr/>
          <p:nvPr/>
        </p:nvSpPr>
        <p:spPr>
          <a:xfrm>
            <a:off x="10515601" y="8953500"/>
            <a:ext cx="1173480" cy="335280"/>
          </a:xfrm>
          <a:prstGeom prst="rect">
            <a:avLst/>
          </a:prstGeom>
          <a:noFill/>
          <a:ln/>
        </p:spPr>
        <p:txBody>
          <a:bodyPr wrap="square" lIns="25400" tIns="25400" rIns="25400" bIns="25400" rtlCol="0" anchor="t">
            <a:normAutofit/>
          </a:bodyPr>
          <a:lstStyle/>
          <a:p>
            <a:pPr algn="l" indent="0" marL="0">
              <a:buNone/>
            </a:pPr>
            <a:r>
              <a:rPr lang="en-US" sz="1800" dirty="0">
                <a:solidFill>
                  <a:srgbClr val="5A2FA0"/>
                </a:solidFill>
                <a:latin typeface="Courier New" pitchFamily="34" charset="0"/>
                <a:ea typeface="Courier New" pitchFamily="34" charset="-122"/>
                <a:cs typeface="Courier New" pitchFamily="34" charset="-120"/>
              </a:rPr>
              <a:t>Grad-CAM</a:t>
            </a:r>
            <a:endParaRPr lang="en-US" sz="1800" dirty="0"/>
          </a:p>
        </p:txBody>
      </p:sp>
      <p:sp>
        <p:nvSpPr>
          <p:cNvPr id="12" name="Shape 10"/>
          <p:cNvSpPr/>
          <p:nvPr/>
        </p:nvSpPr>
        <p:spPr>
          <a:xfrm>
            <a:off x="11944350" y="8831580"/>
            <a:ext cx="944880" cy="541020"/>
          </a:xfrm>
          <a:prstGeom prst="roundRect">
            <a:avLst>
              <a:gd name="adj" fmla="val 50000"/>
            </a:avLst>
          </a:prstGeom>
          <a:solidFill>
            <a:srgbClr val="EFE9F8"/>
          </a:solidFill>
          <a:ln w="7620">
            <a:solidFill>
              <a:srgbClr val="D6CFE9"/>
            </a:solidFill>
            <a:prstDash val="solid"/>
          </a:ln>
        </p:spPr>
      </p:sp>
      <p:sp>
        <p:nvSpPr>
          <p:cNvPr id="13" name="Text 11"/>
          <p:cNvSpPr/>
          <p:nvPr/>
        </p:nvSpPr>
        <p:spPr>
          <a:xfrm>
            <a:off x="12142470" y="8953500"/>
            <a:ext cx="624840" cy="335280"/>
          </a:xfrm>
          <a:prstGeom prst="rect">
            <a:avLst/>
          </a:prstGeom>
          <a:noFill/>
          <a:ln/>
        </p:spPr>
        <p:txBody>
          <a:bodyPr wrap="square" lIns="25400" tIns="25400" rIns="25400" bIns="25400" rtlCol="0" anchor="t">
            <a:normAutofit/>
          </a:bodyPr>
          <a:lstStyle/>
          <a:p>
            <a:pPr algn="l" indent="0" marL="0">
              <a:buNone/>
            </a:pPr>
            <a:r>
              <a:rPr lang="en-US" sz="1800" dirty="0">
                <a:solidFill>
                  <a:srgbClr val="5A2FA0"/>
                </a:solidFill>
                <a:latin typeface="Courier New" pitchFamily="34" charset="0"/>
                <a:ea typeface="Courier New" pitchFamily="34" charset="-122"/>
                <a:cs typeface="Courier New" pitchFamily="34" charset="-120"/>
              </a:rPr>
              <a:t>LIME</a:t>
            </a:r>
            <a:endParaRPr lang="en-US" sz="1800" dirty="0"/>
          </a:p>
        </p:txBody>
      </p:sp>
      <p:sp>
        <p:nvSpPr>
          <p:cNvPr id="14" name="Shape 12"/>
          <p:cNvSpPr/>
          <p:nvPr/>
        </p:nvSpPr>
        <p:spPr>
          <a:xfrm>
            <a:off x="13022581" y="8831580"/>
            <a:ext cx="944880" cy="541020"/>
          </a:xfrm>
          <a:prstGeom prst="roundRect">
            <a:avLst>
              <a:gd name="adj" fmla="val 50000"/>
            </a:avLst>
          </a:prstGeom>
          <a:solidFill>
            <a:srgbClr val="EFE9F8"/>
          </a:solidFill>
          <a:ln w="7620">
            <a:solidFill>
              <a:srgbClr val="D6CFE9"/>
            </a:solidFill>
            <a:prstDash val="solid"/>
          </a:ln>
        </p:spPr>
      </p:sp>
      <p:sp>
        <p:nvSpPr>
          <p:cNvPr id="15" name="Text 13"/>
          <p:cNvSpPr/>
          <p:nvPr/>
        </p:nvSpPr>
        <p:spPr>
          <a:xfrm>
            <a:off x="13220701" y="8953500"/>
            <a:ext cx="624840" cy="335280"/>
          </a:xfrm>
          <a:prstGeom prst="rect">
            <a:avLst/>
          </a:prstGeom>
          <a:noFill/>
          <a:ln/>
        </p:spPr>
        <p:txBody>
          <a:bodyPr wrap="square" lIns="25400" tIns="25400" rIns="25400" bIns="25400" rtlCol="0" anchor="t">
            <a:normAutofit/>
          </a:bodyPr>
          <a:lstStyle/>
          <a:p>
            <a:pPr algn="l" indent="0" marL="0">
              <a:buNone/>
            </a:pPr>
            <a:r>
              <a:rPr lang="en-US" sz="1800" dirty="0">
                <a:solidFill>
                  <a:srgbClr val="5A2FA0"/>
                </a:solidFill>
                <a:latin typeface="Courier New" pitchFamily="34" charset="0"/>
                <a:ea typeface="Courier New" pitchFamily="34" charset="-122"/>
                <a:cs typeface="Courier New" pitchFamily="34" charset="-120"/>
              </a:rPr>
              <a:t>SHAP</a:t>
            </a:r>
            <a:endParaRPr lang="en-US" sz="1800" dirty="0"/>
          </a:p>
        </p:txBody>
      </p:sp>
      <p:sp>
        <p:nvSpPr>
          <p:cNvPr id="16" name="Shape 14"/>
          <p:cNvSpPr/>
          <p:nvPr/>
        </p:nvSpPr>
        <p:spPr>
          <a:xfrm>
            <a:off x="14100810" y="8831580"/>
            <a:ext cx="3139440" cy="541020"/>
          </a:xfrm>
          <a:prstGeom prst="roundRect">
            <a:avLst>
              <a:gd name="adj" fmla="val 50000"/>
            </a:avLst>
          </a:prstGeom>
          <a:solidFill>
            <a:srgbClr val="EFE9F8"/>
          </a:solidFill>
          <a:ln w="7620">
            <a:solidFill>
              <a:srgbClr val="D6CFE9"/>
            </a:solidFill>
            <a:prstDash val="solid"/>
          </a:ln>
        </p:spPr>
      </p:sp>
      <p:sp>
        <p:nvSpPr>
          <p:cNvPr id="17" name="Text 15"/>
          <p:cNvSpPr/>
          <p:nvPr/>
        </p:nvSpPr>
        <p:spPr>
          <a:xfrm>
            <a:off x="14298930" y="8953500"/>
            <a:ext cx="2837383" cy="335280"/>
          </a:xfrm>
          <a:prstGeom prst="rect">
            <a:avLst/>
          </a:prstGeom>
          <a:noFill/>
          <a:ln/>
        </p:spPr>
        <p:txBody>
          <a:bodyPr wrap="square" lIns="25400" tIns="25400" rIns="25400" bIns="25400" rtlCol="0" anchor="t">
            <a:normAutofit/>
          </a:bodyPr>
          <a:lstStyle/>
          <a:p>
            <a:pPr algn="l" indent="0" marL="0">
              <a:buNone/>
            </a:pPr>
            <a:r>
              <a:rPr lang="en-US" sz="1800" dirty="0">
                <a:solidFill>
                  <a:srgbClr val="5A2FA0"/>
                </a:solidFill>
                <a:latin typeface="Courier New" pitchFamily="34" charset="0"/>
                <a:ea typeface="Courier New" pitchFamily="34" charset="-122"/>
                <a:cs typeface="Courier New" pitchFamily="34" charset="-120"/>
              </a:rPr>
              <a:t>Integrated Gradients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1047750" y="2700457"/>
            <a:ext cx="17811750" cy="33528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A3FB0"/>
                </a:solidFill>
                <a:latin typeface="Courier New" pitchFamily="34" charset="0"/>
                <a:ea typeface="Courier New" pitchFamily="34" charset="-122"/>
                <a:cs typeface="Courier New" pitchFamily="34" charset="-120"/>
              </a:rPr>
              <a:t>MOTIVACIJA · RIBEIRO, SINGH &amp; GUESTRIN, 2016</a:t>
            </a:r>
            <a:endParaRPr lang="en-US" sz="1800" dirty="0"/>
          </a:p>
        </p:txBody>
      </p:sp>
      <p:sp>
        <p:nvSpPr>
          <p:cNvPr id="3" name="Text 1"/>
          <p:cNvSpPr/>
          <p:nvPr/>
        </p:nvSpPr>
        <p:spPr>
          <a:xfrm>
            <a:off x="1047750" y="3435787"/>
            <a:ext cx="17811750" cy="1214199"/>
          </a:xfrm>
          <a:prstGeom prst="rect">
            <a:avLst/>
          </a:prstGeom>
          <a:noFill/>
          <a:ln/>
        </p:spPr>
        <p:txBody>
          <a:bodyPr wrap="square" lIns="25400" tIns="25400" rIns="25400" bIns="25400" rtlCol="0" anchor="t">
            <a:normAutofit/>
          </a:bodyPr>
          <a:lstStyle/>
          <a:p>
            <a:pPr algn="l" indent="0" marL="0">
              <a:lnSpc>
                <a:spcPct val="98000"/>
              </a:lnSpc>
              <a:buNone/>
            </a:pPr>
            <a:r>
              <a:rPr lang="en-US" sz="9450" b="1" i="1" spc="-189" kern="0" dirty="0">
                <a:solidFill>
                  <a:srgbClr val="5A2FA0"/>
                </a:solidFill>
                <a:latin typeface="Georgia" pitchFamily="34" charset="0"/>
                <a:ea typeface="Georgia" pitchFamily="34" charset="-122"/>
                <a:cs typeface="Georgia" pitchFamily="34" charset="-120"/>
              </a:rPr>
              <a:t>„Why should I trust you?”</a:t>
            </a:r>
            <a:endParaRPr lang="en-US" sz="9450" dirty="0"/>
          </a:p>
        </p:txBody>
      </p:sp>
      <p:sp>
        <p:nvSpPr>
          <p:cNvPr id="4" name="Shape 2"/>
          <p:cNvSpPr/>
          <p:nvPr/>
        </p:nvSpPr>
        <p:spPr>
          <a:xfrm>
            <a:off x="1047750" y="5107186"/>
            <a:ext cx="982980" cy="617220"/>
          </a:xfrm>
          <a:prstGeom prst="roundRect">
            <a:avLst>
              <a:gd name="adj" fmla="val 15432"/>
            </a:avLst>
          </a:prstGeom>
          <a:solidFill>
            <a:srgbClr val="FFFFFF"/>
          </a:solidFill>
          <a:ln w="7620">
            <a:solidFill>
              <a:srgbClr val="E7E2D7"/>
            </a:solidFill>
            <a:prstDash val="solid"/>
          </a:ln>
        </p:spPr>
      </p:sp>
      <p:sp>
        <p:nvSpPr>
          <p:cNvPr id="5" name="Text 3"/>
          <p:cNvSpPr/>
          <p:nvPr/>
        </p:nvSpPr>
        <p:spPr>
          <a:xfrm>
            <a:off x="1264920" y="5267206"/>
            <a:ext cx="624840" cy="335280"/>
          </a:xfrm>
          <a:prstGeom prst="rect">
            <a:avLst/>
          </a:prstGeom>
          <a:noFill/>
          <a:ln/>
        </p:spPr>
        <p:txBody>
          <a:bodyPr wrap="square" lIns="25400" tIns="25400" rIns="25400" bIns="25400" rtlCol="0" anchor="t">
            <a:normAutofit/>
          </a:bodyPr>
          <a:lstStyle/>
          <a:p>
            <a:pPr algn="l" indent="0" marL="0">
              <a:buNone/>
            </a:pPr>
            <a:r>
              <a:rPr lang="en-US" sz="1800" dirty="0">
                <a:solidFill>
                  <a:srgbClr val="45424B"/>
                </a:solidFill>
                <a:latin typeface="Courier New" pitchFamily="34" charset="0"/>
                <a:ea typeface="Courier New" pitchFamily="34" charset="-122"/>
                <a:cs typeface="Courier New" pitchFamily="34" charset="-120"/>
              </a:rPr>
              <a:t>ulaz</a:t>
            </a:r>
            <a:endParaRPr lang="en-US" sz="1800" dirty="0"/>
          </a:p>
        </p:txBody>
      </p:sp>
      <p:sp>
        <p:nvSpPr>
          <p:cNvPr id="6" name="Text 4"/>
          <p:cNvSpPr/>
          <p:nvPr/>
        </p:nvSpPr>
        <p:spPr>
          <a:xfrm>
            <a:off x="2202180" y="5240536"/>
            <a:ext cx="222885" cy="388620"/>
          </a:xfrm>
          <a:prstGeom prst="rect">
            <a:avLst/>
          </a:prstGeom>
          <a:noFill/>
          <a:ln/>
        </p:spPr>
        <p:txBody>
          <a:bodyPr wrap="square" lIns="25400" tIns="25400" rIns="25400" bIns="25400" rtlCol="0" anchor="t">
            <a:normAutofit/>
          </a:bodyPr>
          <a:lstStyle/>
          <a:p>
            <a:pPr algn="l" indent="0" marL="0">
              <a:buNone/>
            </a:pPr>
            <a:r>
              <a:rPr lang="en-US" sz="2100" dirty="0">
                <a:solidFill>
                  <a:srgbClr val="6A3FB0"/>
                </a:solidFill>
                <a:latin typeface="Courier New" pitchFamily="34" charset="0"/>
                <a:ea typeface="Courier New" pitchFamily="34" charset="-122"/>
                <a:cs typeface="Courier New" pitchFamily="34" charset="-120"/>
              </a:rPr>
              <a:t>→</a:t>
            </a:r>
            <a:endParaRPr lang="en-US" sz="2100" dirty="0"/>
          </a:p>
        </p:txBody>
      </p:sp>
      <p:sp>
        <p:nvSpPr>
          <p:cNvPr id="7" name="Shape 5"/>
          <p:cNvSpPr/>
          <p:nvPr/>
        </p:nvSpPr>
        <p:spPr>
          <a:xfrm>
            <a:off x="2520315" y="5114806"/>
            <a:ext cx="1965960" cy="601980"/>
          </a:xfrm>
          <a:prstGeom prst="roundRect">
            <a:avLst>
              <a:gd name="adj" fmla="val 15823"/>
            </a:avLst>
          </a:prstGeom>
          <a:solidFill>
            <a:srgbClr val="221F29"/>
          </a:solidFill>
          <a:ln/>
        </p:spPr>
      </p:sp>
      <p:sp>
        <p:nvSpPr>
          <p:cNvPr id="8" name="Text 6"/>
          <p:cNvSpPr/>
          <p:nvPr/>
        </p:nvSpPr>
        <p:spPr>
          <a:xfrm>
            <a:off x="2748915" y="5267206"/>
            <a:ext cx="1584960" cy="335280"/>
          </a:xfrm>
          <a:prstGeom prst="rect">
            <a:avLst/>
          </a:prstGeom>
          <a:noFill/>
          <a:ln/>
        </p:spPr>
        <p:txBody>
          <a:bodyPr wrap="square" lIns="25400" tIns="25400" rIns="25400" bIns="25400" rtlCol="0" anchor="t">
            <a:normAutofit/>
          </a:bodyPr>
          <a:lstStyle/>
          <a:p>
            <a:pPr algn="l" indent="0" marL="0">
              <a:buNone/>
            </a:pPr>
            <a:r>
              <a:rPr lang="en-US" sz="1800" dirty="0">
                <a:solidFill>
                  <a:srgbClr val="F4F1EA"/>
                </a:solidFill>
                <a:latin typeface="Courier New" pitchFamily="34" charset="0"/>
                <a:ea typeface="Courier New" pitchFamily="34" charset="-122"/>
                <a:cs typeface="Courier New" pitchFamily="34" charset="-120"/>
              </a:rPr>
              <a:t>crna kutija</a:t>
            </a:r>
            <a:endParaRPr lang="en-US" sz="1800" dirty="0"/>
          </a:p>
        </p:txBody>
      </p:sp>
      <p:sp>
        <p:nvSpPr>
          <p:cNvPr id="9" name="Text 7"/>
          <p:cNvSpPr/>
          <p:nvPr/>
        </p:nvSpPr>
        <p:spPr>
          <a:xfrm>
            <a:off x="4657725" y="5240536"/>
            <a:ext cx="222885" cy="388620"/>
          </a:xfrm>
          <a:prstGeom prst="rect">
            <a:avLst/>
          </a:prstGeom>
          <a:noFill/>
          <a:ln/>
        </p:spPr>
        <p:txBody>
          <a:bodyPr wrap="square" lIns="25400" tIns="25400" rIns="25400" bIns="25400" rtlCol="0" anchor="t">
            <a:normAutofit/>
          </a:bodyPr>
          <a:lstStyle/>
          <a:p>
            <a:pPr algn="l" indent="0" marL="0">
              <a:buNone/>
            </a:pPr>
            <a:r>
              <a:rPr lang="en-US" sz="2100" dirty="0">
                <a:solidFill>
                  <a:srgbClr val="6A3FB0"/>
                </a:solidFill>
                <a:latin typeface="Courier New" pitchFamily="34" charset="0"/>
                <a:ea typeface="Courier New" pitchFamily="34" charset="-122"/>
                <a:cs typeface="Courier New" pitchFamily="34" charset="-120"/>
              </a:rPr>
              <a:t>→</a:t>
            </a:r>
            <a:endParaRPr lang="en-US" sz="2100" dirty="0"/>
          </a:p>
        </p:txBody>
      </p:sp>
      <p:sp>
        <p:nvSpPr>
          <p:cNvPr id="10" name="Shape 8"/>
          <p:cNvSpPr/>
          <p:nvPr/>
        </p:nvSpPr>
        <p:spPr>
          <a:xfrm>
            <a:off x="4975860" y="5107186"/>
            <a:ext cx="1257300" cy="617220"/>
          </a:xfrm>
          <a:prstGeom prst="roundRect">
            <a:avLst>
              <a:gd name="adj" fmla="val 15432"/>
            </a:avLst>
          </a:prstGeom>
          <a:solidFill>
            <a:srgbClr val="FFFFFF"/>
          </a:solidFill>
          <a:ln w="7620">
            <a:solidFill>
              <a:srgbClr val="E7E2D7"/>
            </a:solidFill>
            <a:prstDash val="solid"/>
          </a:ln>
        </p:spPr>
      </p:sp>
      <p:sp>
        <p:nvSpPr>
          <p:cNvPr id="11" name="Text 9"/>
          <p:cNvSpPr/>
          <p:nvPr/>
        </p:nvSpPr>
        <p:spPr>
          <a:xfrm>
            <a:off x="5193030" y="5267206"/>
            <a:ext cx="899160" cy="335280"/>
          </a:xfrm>
          <a:prstGeom prst="rect">
            <a:avLst/>
          </a:prstGeom>
          <a:noFill/>
          <a:ln/>
        </p:spPr>
        <p:txBody>
          <a:bodyPr wrap="square" lIns="25400" tIns="25400" rIns="25400" bIns="25400" rtlCol="0" anchor="t">
            <a:normAutofit/>
          </a:bodyPr>
          <a:lstStyle/>
          <a:p>
            <a:pPr algn="l" indent="0" marL="0">
              <a:buNone/>
            </a:pPr>
            <a:r>
              <a:rPr lang="en-US" sz="1800" dirty="0">
                <a:solidFill>
                  <a:srgbClr val="45424B"/>
                </a:solidFill>
                <a:latin typeface="Courier New" pitchFamily="34" charset="0"/>
                <a:ea typeface="Courier New" pitchFamily="34" charset="-122"/>
                <a:cs typeface="Courier New" pitchFamily="34" charset="-120"/>
              </a:rPr>
              <a:t>odluka</a:t>
            </a:r>
            <a:endParaRPr lang="en-US" sz="1800" dirty="0"/>
          </a:p>
        </p:txBody>
      </p:sp>
      <p:sp>
        <p:nvSpPr>
          <p:cNvPr id="12" name="Text 10"/>
          <p:cNvSpPr/>
          <p:nvPr/>
        </p:nvSpPr>
        <p:spPr>
          <a:xfrm>
            <a:off x="1047750" y="6162556"/>
            <a:ext cx="7770114" cy="1462088"/>
          </a:xfrm>
          <a:prstGeom prst="rect">
            <a:avLst/>
          </a:prstGeom>
          <a:noFill/>
          <a:ln/>
        </p:spPr>
        <p:txBody>
          <a:bodyPr wrap="square" lIns="25400" tIns="25400" rIns="25400" bIns="25400" rtlCol="0" anchor="t">
            <a:normAutofit/>
          </a:bodyPr>
          <a:lstStyle/>
          <a:p>
            <a:pPr algn="l" indent="0" marL="0">
              <a:lnSpc>
                <a:spcPct val="145000"/>
              </a:lnSpc>
              <a:buNone/>
            </a:pPr>
            <a:r>
              <a:rPr lang="en-US" sz="2550" dirty="0">
                <a:solidFill>
                  <a:srgbClr val="45424B"/>
                </a:solidFill>
                <a:latin typeface="Arial" pitchFamily="34" charset="0"/>
                <a:ea typeface="Arial" pitchFamily="34" charset="-122"/>
                <a:cs typeface="Arial" pitchFamily="34" charset="-120"/>
              </a:rPr>
              <a:t>CNN postiže visoku tačnost, ali funkcioniše kao </a:t>
            </a:r>
            <a:pPr algn="l" indent="0" marL="0">
              <a:lnSpc>
                <a:spcPct val="145000"/>
              </a:lnSpc>
              <a:buNone/>
            </a:pPr>
            <a:r>
              <a:rPr lang="en-US" sz="2550" b="1" dirty="0">
                <a:solidFill>
                  <a:srgbClr val="5A2FA0"/>
                </a:solidFill>
                <a:latin typeface="Arial" pitchFamily="34" charset="0"/>
                <a:ea typeface="Arial" pitchFamily="34" charset="-122"/>
                <a:cs typeface="Arial" pitchFamily="34" charset="-120"/>
              </a:rPr>
              <a:t>crna kutija </a:t>
            </a:r>
            <a:pPr algn="l" indent="0" marL="0">
              <a:lnSpc>
                <a:spcPct val="145000"/>
              </a:lnSpc>
              <a:buNone/>
            </a:pPr>
            <a:r>
              <a:rPr lang="en-US" sz="2550" dirty="0">
                <a:solidFill>
                  <a:srgbClr val="45424B"/>
                </a:solidFill>
                <a:latin typeface="Arial" pitchFamily="34" charset="0"/>
                <a:ea typeface="Arial" pitchFamily="34" charset="-122"/>
                <a:cs typeface="Arial" pitchFamily="34" charset="-120"/>
              </a:rPr>
              <a:t>— daje odgovor, ali ne i razlog na osnovu kojeg ga je donio.</a:t>
            </a:r>
            <a:endParaRPr lang="en-US" sz="2550" dirty="0"/>
          </a:p>
        </p:txBody>
      </p:sp>
      <p:sp>
        <p:nvSpPr>
          <p:cNvPr id="13" name="Text 11"/>
          <p:cNvSpPr/>
          <p:nvPr/>
        </p:nvSpPr>
        <p:spPr>
          <a:xfrm>
            <a:off x="9124950" y="6162556"/>
            <a:ext cx="7770114" cy="1462088"/>
          </a:xfrm>
          <a:prstGeom prst="rect">
            <a:avLst/>
          </a:prstGeom>
          <a:noFill/>
          <a:ln/>
        </p:spPr>
        <p:txBody>
          <a:bodyPr wrap="square" lIns="25400" tIns="25400" rIns="25400" bIns="25400" rtlCol="0" anchor="t">
            <a:normAutofit/>
          </a:bodyPr>
          <a:lstStyle/>
          <a:p>
            <a:pPr algn="l" indent="0" marL="0">
              <a:lnSpc>
                <a:spcPct val="145000"/>
              </a:lnSpc>
              <a:buNone/>
            </a:pPr>
            <a:r>
              <a:rPr lang="en-US" sz="2550" dirty="0">
                <a:solidFill>
                  <a:srgbClr val="45424B"/>
                </a:solidFill>
                <a:latin typeface="Arial" pitchFamily="34" charset="0"/>
                <a:ea typeface="Arial" pitchFamily="34" charset="-122"/>
                <a:cs typeface="Arial" pitchFamily="34" charset="-120"/>
              </a:rPr>
              <a:t>U osjetljivim oblastima kao što je medicinska dijagnostika, tačan rezultat </a:t>
            </a:r>
            <a:pPr algn="l" indent="0" marL="0">
              <a:lnSpc>
                <a:spcPct val="145000"/>
              </a:lnSpc>
              <a:buNone/>
            </a:pPr>
            <a:r>
              <a:rPr lang="en-US" sz="2550" b="1" dirty="0">
                <a:solidFill>
                  <a:srgbClr val="5A2FA0"/>
                </a:solidFill>
                <a:latin typeface="Arial" pitchFamily="34" charset="0"/>
                <a:ea typeface="Arial" pitchFamily="34" charset="-122"/>
                <a:cs typeface="Arial" pitchFamily="34" charset="-120"/>
              </a:rPr>
              <a:t>nije dovoljan </a:t>
            </a:r>
            <a:pPr algn="l" indent="0" marL="0">
              <a:lnSpc>
                <a:spcPct val="145000"/>
              </a:lnSpc>
              <a:buNone/>
            </a:pPr>
            <a:r>
              <a:rPr lang="en-US" sz="2550" dirty="0">
                <a:solidFill>
                  <a:srgbClr val="45424B"/>
                </a:solidFill>
                <a:latin typeface="Arial" pitchFamily="34" charset="0"/>
                <a:ea typeface="Arial" pitchFamily="34" charset="-122"/>
                <a:cs typeface="Arial" pitchFamily="34" charset="-120"/>
              </a:rPr>
              <a:t>ako se ne može provjeriti zašto je donesen.</a:t>
            </a:r>
            <a:endParaRPr lang="en-US" sz="2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952500" y="800100"/>
            <a:ext cx="18021300" cy="33528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A3FB0"/>
                </a:solidFill>
                <a:latin typeface="Courier New" pitchFamily="34" charset="0"/>
                <a:ea typeface="Courier New" pitchFamily="34" charset="-122"/>
                <a:cs typeface="Courier New" pitchFamily="34" charset="-120"/>
              </a:rPr>
              <a:t>01 · PROBLEM I CILJ</a:t>
            </a:r>
            <a:endParaRPr lang="en-US" sz="1800" dirty="0"/>
          </a:p>
        </p:txBody>
      </p:sp>
      <p:sp>
        <p:nvSpPr>
          <p:cNvPr id="3" name="Text 1"/>
          <p:cNvSpPr/>
          <p:nvPr/>
        </p:nvSpPr>
        <p:spPr>
          <a:xfrm>
            <a:off x="952500" y="1230630"/>
            <a:ext cx="18021300" cy="643890"/>
          </a:xfrm>
          <a:prstGeom prst="rect">
            <a:avLst/>
          </a:prstGeom>
          <a:noFill/>
          <a:ln/>
        </p:spPr>
        <p:txBody>
          <a:bodyPr wrap="square" lIns="25400" tIns="25400" rIns="25400" bIns="25400" rtlCol="0" anchor="t">
            <a:normAutofit/>
          </a:bodyPr>
          <a:lstStyle/>
          <a:p>
            <a:pPr algn="l" indent="0" marL="0">
              <a:lnSpc>
                <a:spcPct val="106000"/>
              </a:lnSpc>
              <a:buNone/>
            </a:pPr>
            <a:r>
              <a:rPr lang="en-US" sz="4500" b="1" spc="-45" kern="0" dirty="0">
                <a:solidFill>
                  <a:srgbClr val="221F29"/>
                </a:solidFill>
                <a:latin typeface="Georgia" pitchFamily="34" charset="0"/>
                <a:ea typeface="Georgia" pitchFamily="34" charset="-122"/>
                <a:cs typeface="Georgia" pitchFamily="34" charset="-120"/>
              </a:rPr>
              <a:t>Tačan odgovor nije isto što i razumljiv odgovor</a:t>
            </a:r>
            <a:endParaRPr lang="en-US" sz="4500" dirty="0"/>
          </a:p>
        </p:txBody>
      </p:sp>
      <p:sp>
        <p:nvSpPr>
          <p:cNvPr id="4" name="Shape 2"/>
          <p:cNvSpPr/>
          <p:nvPr/>
        </p:nvSpPr>
        <p:spPr>
          <a:xfrm>
            <a:off x="952500" y="2236470"/>
            <a:ext cx="8029575" cy="7250430"/>
          </a:xfrm>
          <a:prstGeom prst="roundRect">
            <a:avLst>
              <a:gd name="adj" fmla="val 1576"/>
            </a:avLst>
          </a:prstGeom>
          <a:solidFill>
            <a:srgbClr val="FFFFFF"/>
          </a:solidFill>
          <a:ln w="7620">
            <a:solidFill>
              <a:srgbClr val="E7E2D7"/>
            </a:solidFill>
            <a:prstDash val="solid"/>
          </a:ln>
        </p:spPr>
      </p:sp>
      <p:sp>
        <p:nvSpPr>
          <p:cNvPr id="5" name="Text 3"/>
          <p:cNvSpPr/>
          <p:nvPr/>
        </p:nvSpPr>
        <p:spPr>
          <a:xfrm>
            <a:off x="1379220" y="2663190"/>
            <a:ext cx="7893749" cy="33528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A85A3C"/>
                </a:solidFill>
                <a:latin typeface="Courier New" pitchFamily="34" charset="0"/>
                <a:ea typeface="Courier New" pitchFamily="34" charset="-122"/>
                <a:cs typeface="Courier New" pitchFamily="34" charset="-120"/>
              </a:rPr>
              <a:t>PROBLEM</a:t>
            </a:r>
            <a:endParaRPr lang="en-US" sz="1800" dirty="0"/>
          </a:p>
        </p:txBody>
      </p:sp>
      <p:sp>
        <p:nvSpPr>
          <p:cNvPr id="6" name="Text 4"/>
          <p:cNvSpPr/>
          <p:nvPr/>
        </p:nvSpPr>
        <p:spPr>
          <a:xfrm>
            <a:off x="1379220" y="3208020"/>
            <a:ext cx="7391419" cy="1330166"/>
          </a:xfrm>
          <a:prstGeom prst="rect">
            <a:avLst/>
          </a:prstGeom>
          <a:noFill/>
          <a:ln/>
        </p:spPr>
        <p:txBody>
          <a:bodyPr wrap="square" lIns="25400" tIns="25400" rIns="25400" bIns="25400" rtlCol="0" anchor="t">
            <a:normAutofit/>
          </a:bodyPr>
          <a:lstStyle/>
          <a:p>
            <a:pPr algn="l" indent="0" marL="0">
              <a:lnSpc>
                <a:spcPct val="145000"/>
              </a:lnSpc>
              <a:buNone/>
            </a:pPr>
            <a:r>
              <a:rPr lang="en-US" sz="2325" dirty="0">
                <a:solidFill>
                  <a:srgbClr val="45424B"/>
                </a:solidFill>
                <a:latin typeface="Arial" pitchFamily="34" charset="0"/>
                <a:ea typeface="Arial" pitchFamily="34" charset="-122"/>
                <a:cs typeface="Arial" pitchFamily="34" charset="-120"/>
              </a:rPr>
              <a:t>CNN većinski daje tačne rezultate, ali proces transformacije ulaza u odluku ostaje </a:t>
            </a:r>
            <a:pPr algn="l" indent="0" marL="0">
              <a:lnSpc>
                <a:spcPct val="145000"/>
              </a:lnSpc>
              <a:buNone/>
            </a:pPr>
            <a:r>
              <a:rPr lang="en-US" sz="2325" b="1" dirty="0">
                <a:solidFill>
                  <a:srgbClr val="221F29"/>
                </a:solidFill>
                <a:latin typeface="Arial" pitchFamily="34" charset="0"/>
                <a:ea typeface="Arial" pitchFamily="34" charset="-122"/>
                <a:cs typeface="Arial" pitchFamily="34" charset="-120"/>
              </a:rPr>
              <a:t>netransparentan </a:t>
            </a:r>
            <a:pPr algn="l" indent="0" marL="0">
              <a:lnSpc>
                <a:spcPct val="145000"/>
              </a:lnSpc>
              <a:buNone/>
            </a:pPr>
            <a:r>
              <a:rPr lang="en-US" sz="2325" dirty="0">
                <a:solidFill>
                  <a:srgbClr val="45424B"/>
                </a:solidFill>
                <a:latin typeface="Arial" pitchFamily="34" charset="0"/>
                <a:ea typeface="Arial" pitchFamily="34" charset="-122"/>
                <a:cs typeface="Arial" pitchFamily="34" charset="-120"/>
              </a:rPr>
              <a:t>i teško razumljiv čovjeku.</a:t>
            </a:r>
            <a:endParaRPr lang="en-US" sz="2325" dirty="0"/>
          </a:p>
        </p:txBody>
      </p:sp>
      <p:sp>
        <p:nvSpPr>
          <p:cNvPr id="7" name="Text 5"/>
          <p:cNvSpPr/>
          <p:nvPr/>
        </p:nvSpPr>
        <p:spPr>
          <a:xfrm>
            <a:off x="1379220" y="4747736"/>
            <a:ext cx="7391419" cy="1198245"/>
          </a:xfrm>
          <a:prstGeom prst="rect">
            <a:avLst/>
          </a:prstGeom>
          <a:noFill/>
          <a:ln/>
        </p:spPr>
        <p:txBody>
          <a:bodyPr wrap="square" lIns="25400" tIns="25400" rIns="25400" bIns="25400" rtlCol="0" anchor="t">
            <a:normAutofit/>
          </a:bodyPr>
          <a:lstStyle/>
          <a:p>
            <a:pPr algn="l" indent="0" marL="0">
              <a:lnSpc>
                <a:spcPct val="145000"/>
              </a:lnSpc>
              <a:buNone/>
            </a:pPr>
            <a:r>
              <a:rPr lang="en-US" sz="2100" dirty="0">
                <a:solidFill>
                  <a:srgbClr val="6F6B63"/>
                </a:solidFill>
                <a:latin typeface="Arial" pitchFamily="34" charset="0"/>
                <a:ea typeface="Arial" pitchFamily="34" charset="-122"/>
                <a:cs typeface="Arial" pitchFamily="34" charset="-120"/>
              </a:rPr>
              <a:t>U kritičnim oblastima — medicina, autonomni sistemi, pravo — to je ozbiljan rizik: ne znamo oslanja li se model na ispravne ili pogrešne osnove.</a:t>
            </a:r>
            <a:endParaRPr lang="en-US" sz="2100" dirty="0"/>
          </a:p>
        </p:txBody>
      </p:sp>
      <p:sp>
        <p:nvSpPr>
          <p:cNvPr id="8" name="Shape 6"/>
          <p:cNvSpPr/>
          <p:nvPr/>
        </p:nvSpPr>
        <p:spPr>
          <a:xfrm>
            <a:off x="9305925" y="2236470"/>
            <a:ext cx="8029575" cy="7250430"/>
          </a:xfrm>
          <a:prstGeom prst="roundRect">
            <a:avLst>
              <a:gd name="adj" fmla="val 1576"/>
            </a:avLst>
          </a:prstGeom>
          <a:solidFill>
            <a:srgbClr val="EFE9F8"/>
          </a:solidFill>
          <a:ln w="7620">
            <a:solidFill>
              <a:srgbClr val="DCCFF2"/>
            </a:solidFill>
            <a:prstDash val="solid"/>
          </a:ln>
        </p:spPr>
      </p:sp>
      <p:sp>
        <p:nvSpPr>
          <p:cNvPr id="9" name="Text 7"/>
          <p:cNvSpPr/>
          <p:nvPr/>
        </p:nvSpPr>
        <p:spPr>
          <a:xfrm>
            <a:off x="9732645" y="2663190"/>
            <a:ext cx="7893749" cy="33528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A3FB0"/>
                </a:solidFill>
                <a:latin typeface="Courier New" pitchFamily="34" charset="0"/>
                <a:ea typeface="Courier New" pitchFamily="34" charset="-122"/>
                <a:cs typeface="Courier New" pitchFamily="34" charset="-120"/>
              </a:rPr>
              <a:t>CILJ RADA</a:t>
            </a:r>
            <a:endParaRPr lang="en-US" sz="1800" dirty="0"/>
          </a:p>
        </p:txBody>
      </p:sp>
      <p:sp>
        <p:nvSpPr>
          <p:cNvPr id="10" name="Text 8"/>
          <p:cNvSpPr/>
          <p:nvPr/>
        </p:nvSpPr>
        <p:spPr>
          <a:xfrm>
            <a:off x="9732645" y="3208020"/>
            <a:ext cx="7391419" cy="979170"/>
          </a:xfrm>
          <a:prstGeom prst="rect">
            <a:avLst/>
          </a:prstGeom>
          <a:noFill/>
          <a:ln/>
        </p:spPr>
        <p:txBody>
          <a:bodyPr wrap="square" lIns="25400" tIns="25400" rIns="25400" bIns="25400" rtlCol="0" anchor="t">
            <a:normAutofit/>
          </a:bodyPr>
          <a:lstStyle/>
          <a:p>
            <a:pPr algn="l" indent="0" marL="0">
              <a:lnSpc>
                <a:spcPct val="130000"/>
              </a:lnSpc>
              <a:buNone/>
            </a:pPr>
            <a:r>
              <a:rPr lang="en-US" sz="2850" dirty="0">
                <a:solidFill>
                  <a:srgbClr val="2E1B52"/>
                </a:solidFill>
                <a:latin typeface="Georgia" pitchFamily="34" charset="0"/>
                <a:ea typeface="Georgia" pitchFamily="34" charset="-122"/>
                <a:cs typeface="Georgia" pitchFamily="34" charset="-120"/>
              </a:rPr>
              <a:t>Centralno pitanje nije tačnost modela, nego </a:t>
            </a:r>
            <a:pPr algn="l" indent="0" marL="0">
              <a:lnSpc>
                <a:spcPct val="130000"/>
              </a:lnSpc>
              <a:buNone/>
            </a:pPr>
            <a:r>
              <a:rPr lang="en-US" sz="2850" i="1" dirty="0">
                <a:solidFill>
                  <a:srgbClr val="5A2FA0"/>
                </a:solidFill>
                <a:latin typeface="Georgia" pitchFamily="34" charset="0"/>
                <a:ea typeface="Georgia" pitchFamily="34" charset="-122"/>
                <a:cs typeface="Georgia" pitchFamily="34" charset="-120"/>
              </a:rPr>
              <a:t>kvalitet objašnjenja </a:t>
            </a:r>
            <a:pPr algn="l" indent="0" marL="0">
              <a:lnSpc>
                <a:spcPct val="130000"/>
              </a:lnSpc>
              <a:buNone/>
            </a:pPr>
            <a:r>
              <a:rPr lang="en-US" sz="2850" dirty="0">
                <a:solidFill>
                  <a:srgbClr val="2E1B52"/>
                </a:solidFill>
                <a:latin typeface="Georgia" pitchFamily="34" charset="0"/>
                <a:ea typeface="Georgia" pitchFamily="34" charset="-122"/>
                <a:cs typeface="Georgia" pitchFamily="34" charset="-120"/>
              </a:rPr>
              <a:t>koja metode pružaju.</a:t>
            </a:r>
            <a:endParaRPr lang="en-US" sz="2850" dirty="0"/>
          </a:p>
        </p:txBody>
      </p:sp>
      <p:sp>
        <p:nvSpPr>
          <p:cNvPr id="11" name="Text 9"/>
          <p:cNvSpPr/>
          <p:nvPr/>
        </p:nvSpPr>
        <p:spPr>
          <a:xfrm>
            <a:off x="9793605" y="4434840"/>
            <a:ext cx="7191375" cy="1466850"/>
          </a:xfrm>
          <a:prstGeom prst="rect">
            <a:avLst/>
          </a:prstGeom>
          <a:noFill/>
          <a:ln/>
        </p:spPr>
        <p:txBody>
          <a:bodyPr wrap="square" lIns="25400" tIns="25400" rIns="25400" bIns="25400" rtlCol="0" anchor="t">
            <a:normAutofit/>
          </a:bodyPr>
          <a:lstStyle/>
          <a:p>
            <a:pPr algn="l" marL="186690" indent="-186690">
              <a:lnSpc>
                <a:spcPct val="150000"/>
              </a:lnSpc>
              <a:buSzPct val="100000"/>
              <a:buChar char="•"/>
              <a:tabLst>
                <a:tab pos="186690" algn="l"/>
              </a:tabLst>
            </a:pPr>
            <a:r>
              <a:rPr lang="en-US" sz="2100" dirty="0">
                <a:solidFill>
                  <a:srgbClr val="4A3D63"/>
                </a:solidFill>
                <a:latin typeface="Arial" pitchFamily="34" charset="0"/>
                <a:ea typeface="Arial" pitchFamily="34" charset="-122"/>
                <a:cs typeface="Arial" pitchFamily="34" charset="-120"/>
              </a:rPr>
              <a:t>„Otvoriti” crnu kutiju i vidjeti relevantne regije slike</a:t>
            </a:r>
            <a:endParaRPr lang="en-US" sz="2100" dirty="0"/>
          </a:p>
          <a:p>
            <a:pPr algn="l" marL="186690" indent="-186690">
              <a:lnSpc>
                <a:spcPct val="150000"/>
              </a:lnSpc>
              <a:buSzPct val="100000"/>
              <a:buChar char="•"/>
              <a:tabLst>
                <a:tab pos="186690" algn="l"/>
              </a:tabLst>
            </a:pPr>
            <a:r>
              <a:rPr lang="en-US" sz="2100" dirty="0">
                <a:solidFill>
                  <a:srgbClr val="4A3D63"/>
                </a:solidFill>
                <a:latin typeface="Arial" pitchFamily="34" charset="0"/>
                <a:ea typeface="Arial" pitchFamily="34" charset="-122"/>
                <a:cs typeface="Arial" pitchFamily="34" charset="-120"/>
              </a:rPr>
              <a:t>Validacija modela i otkrivanje grešaka</a:t>
            </a:r>
            <a:endParaRPr lang="en-US" sz="2100" dirty="0"/>
          </a:p>
          <a:p>
            <a:pPr algn="l" marL="186690" indent="-186690">
              <a:lnSpc>
                <a:spcPct val="150000"/>
              </a:lnSpc>
              <a:buSzPct val="100000"/>
              <a:buChar char="•"/>
              <a:tabLst>
                <a:tab pos="186690" algn="l"/>
              </a:tabLst>
            </a:pPr>
            <a:r>
              <a:rPr lang="en-US" sz="2100" dirty="0">
                <a:solidFill>
                  <a:srgbClr val="4A3D63"/>
                </a:solidFill>
                <a:latin typeface="Arial" pitchFamily="34" charset="0"/>
                <a:ea typeface="Arial" pitchFamily="34" charset="-122"/>
                <a:cs typeface="Arial" pitchFamily="34" charset="-120"/>
              </a:rPr>
              <a:t>Provjeriti usklađenost sa ljudskom intuicijom o EKG-u</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952500" y="762000"/>
            <a:ext cx="18021300" cy="33528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A3FB0"/>
                </a:solidFill>
                <a:latin typeface="Courier New" pitchFamily="34" charset="0"/>
                <a:ea typeface="Courier New" pitchFamily="34" charset="-122"/>
                <a:cs typeface="Courier New" pitchFamily="34" charset="-120"/>
              </a:rPr>
              <a:t>02 · EKSPERIMENTALNA POSTAVKA</a:t>
            </a:r>
            <a:endParaRPr lang="en-US" sz="1800" dirty="0"/>
          </a:p>
        </p:txBody>
      </p:sp>
      <p:sp>
        <p:nvSpPr>
          <p:cNvPr id="3" name="Text 1"/>
          <p:cNvSpPr/>
          <p:nvPr/>
        </p:nvSpPr>
        <p:spPr>
          <a:xfrm>
            <a:off x="952500" y="1192530"/>
            <a:ext cx="18021300" cy="623649"/>
          </a:xfrm>
          <a:prstGeom prst="rect">
            <a:avLst/>
          </a:prstGeom>
          <a:noFill/>
          <a:ln/>
        </p:spPr>
        <p:txBody>
          <a:bodyPr wrap="square" lIns="25400" tIns="25400" rIns="25400" bIns="25400" rtlCol="0" anchor="t">
            <a:normAutofit/>
          </a:bodyPr>
          <a:lstStyle/>
          <a:p>
            <a:pPr algn="l" indent="0" marL="0">
              <a:lnSpc>
                <a:spcPct val="106000"/>
              </a:lnSpc>
              <a:buNone/>
            </a:pPr>
            <a:r>
              <a:rPr lang="en-US" sz="4350" b="1" spc="-43" kern="0" dirty="0">
                <a:solidFill>
                  <a:srgbClr val="221F29"/>
                </a:solidFill>
                <a:latin typeface="Georgia" pitchFamily="34" charset="0"/>
                <a:ea typeface="Georgia" pitchFamily="34" charset="-122"/>
                <a:cs typeface="Georgia" pitchFamily="34" charset="-120"/>
              </a:rPr>
              <a:t>Od EKG signala, preko spektrograma, do ResNet50</a:t>
            </a:r>
            <a:endParaRPr lang="en-US" sz="4350" dirty="0"/>
          </a:p>
        </p:txBody>
      </p:sp>
      <p:sp>
        <p:nvSpPr>
          <p:cNvPr id="4" name="Shape 2"/>
          <p:cNvSpPr/>
          <p:nvPr/>
        </p:nvSpPr>
        <p:spPr>
          <a:xfrm>
            <a:off x="952500" y="2101929"/>
            <a:ext cx="3777853" cy="1383030"/>
          </a:xfrm>
          <a:prstGeom prst="roundRect">
            <a:avLst>
              <a:gd name="adj" fmla="val 8264"/>
            </a:avLst>
          </a:prstGeom>
          <a:solidFill>
            <a:srgbClr val="FFFFFF"/>
          </a:solidFill>
          <a:ln w="7620">
            <a:solidFill>
              <a:srgbClr val="E7E2D7"/>
            </a:solidFill>
            <a:prstDash val="solid"/>
          </a:ln>
        </p:spPr>
      </p:sp>
      <p:sp>
        <p:nvSpPr>
          <p:cNvPr id="5" name="Text 3"/>
          <p:cNvSpPr/>
          <p:nvPr/>
        </p:nvSpPr>
        <p:spPr>
          <a:xfrm>
            <a:off x="1169670" y="2338149"/>
            <a:ext cx="3677864"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221F29"/>
                </a:solidFill>
                <a:latin typeface="Courier New" pitchFamily="34" charset="0"/>
                <a:ea typeface="Courier New" pitchFamily="34" charset="-122"/>
                <a:cs typeface="Courier New" pitchFamily="34" charset="-120"/>
              </a:rPr>
              <a:t>EKG signal</a:t>
            </a:r>
            <a:endParaRPr lang="en-US" sz="1800" dirty="0"/>
          </a:p>
        </p:txBody>
      </p:sp>
      <p:sp>
        <p:nvSpPr>
          <p:cNvPr id="6" name="Text 4"/>
          <p:cNvSpPr/>
          <p:nvPr/>
        </p:nvSpPr>
        <p:spPr>
          <a:xfrm>
            <a:off x="1169670" y="2654380"/>
            <a:ext cx="3677864" cy="335280"/>
          </a:xfrm>
          <a:prstGeom prst="rect">
            <a:avLst/>
          </a:prstGeom>
          <a:noFill/>
          <a:ln/>
        </p:spPr>
        <p:txBody>
          <a:bodyPr wrap="square" lIns="25400" tIns="25400" rIns="25400" bIns="25400" rtlCol="0" anchor="t">
            <a:normAutofit/>
          </a:bodyPr>
          <a:lstStyle/>
          <a:p>
            <a:pPr algn="l" indent="0" marL="0">
              <a:buNone/>
            </a:pPr>
            <a:r>
              <a:rPr lang="en-US" sz="1800" dirty="0">
                <a:solidFill>
                  <a:srgbClr val="7A766E"/>
                </a:solidFill>
                <a:latin typeface="Courier New" pitchFamily="34" charset="0"/>
                <a:ea typeface="Courier New" pitchFamily="34" charset="-122"/>
                <a:cs typeface="Courier New" pitchFamily="34" charset="-120"/>
              </a:rPr>
              <a:t>fs 300 Hz · 0.5–40 Hz</a:t>
            </a:r>
            <a:endParaRPr lang="en-US" sz="1800" dirty="0"/>
          </a:p>
        </p:txBody>
      </p:sp>
      <p:sp>
        <p:nvSpPr>
          <p:cNvPr id="7" name="Text 5"/>
          <p:cNvSpPr/>
          <p:nvPr/>
        </p:nvSpPr>
        <p:spPr>
          <a:xfrm>
            <a:off x="4863703" y="2101929"/>
            <a:ext cx="233362" cy="1421130"/>
          </a:xfrm>
          <a:prstGeom prst="rect">
            <a:avLst/>
          </a:prstGeom>
          <a:noFill/>
          <a:ln/>
        </p:spPr>
        <p:txBody>
          <a:bodyPr wrap="square" lIns="25400" tIns="25400" rIns="25400" bIns="25400" rtlCol="0" anchor="ctr">
            <a:normAutofit/>
          </a:bodyPr>
          <a:lstStyle/>
          <a:p>
            <a:pPr algn="l" indent="0" marL="0">
              <a:buNone/>
            </a:pPr>
            <a:r>
              <a:rPr lang="en-US" sz="2250" dirty="0">
                <a:solidFill>
                  <a:srgbClr val="6A3FB0"/>
                </a:solidFill>
                <a:latin typeface="Courier New" pitchFamily="34" charset="0"/>
                <a:ea typeface="Courier New" pitchFamily="34" charset="-122"/>
                <a:cs typeface="Courier New" pitchFamily="34" charset="-120"/>
              </a:rPr>
              <a:t>→</a:t>
            </a:r>
            <a:endParaRPr lang="en-US" sz="2250" dirty="0"/>
          </a:p>
        </p:txBody>
      </p:sp>
      <p:sp>
        <p:nvSpPr>
          <p:cNvPr id="8" name="Shape 6"/>
          <p:cNvSpPr/>
          <p:nvPr/>
        </p:nvSpPr>
        <p:spPr>
          <a:xfrm>
            <a:off x="5154216" y="2101929"/>
            <a:ext cx="3777853" cy="1383030"/>
          </a:xfrm>
          <a:prstGeom prst="roundRect">
            <a:avLst>
              <a:gd name="adj" fmla="val 8264"/>
            </a:avLst>
          </a:prstGeom>
          <a:solidFill>
            <a:srgbClr val="FFFFFF"/>
          </a:solidFill>
          <a:ln w="7620">
            <a:solidFill>
              <a:srgbClr val="E7E2D7"/>
            </a:solidFill>
            <a:prstDash val="solid"/>
          </a:ln>
        </p:spPr>
      </p:sp>
      <p:sp>
        <p:nvSpPr>
          <p:cNvPr id="9" name="Text 7"/>
          <p:cNvSpPr/>
          <p:nvPr/>
        </p:nvSpPr>
        <p:spPr>
          <a:xfrm>
            <a:off x="5371386" y="2338149"/>
            <a:ext cx="3677864"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221F29"/>
                </a:solidFill>
                <a:latin typeface="Courier New" pitchFamily="34" charset="0"/>
                <a:ea typeface="Courier New" pitchFamily="34" charset="-122"/>
                <a:cs typeface="Courier New" pitchFamily="34" charset="-120"/>
              </a:rPr>
              <a:t>STFT (ručno)</a:t>
            </a:r>
            <a:endParaRPr lang="en-US" sz="1800" dirty="0"/>
          </a:p>
        </p:txBody>
      </p:sp>
      <p:sp>
        <p:nvSpPr>
          <p:cNvPr id="10" name="Text 8"/>
          <p:cNvSpPr/>
          <p:nvPr/>
        </p:nvSpPr>
        <p:spPr>
          <a:xfrm>
            <a:off x="5371386" y="2654380"/>
            <a:ext cx="3443818" cy="632460"/>
          </a:xfrm>
          <a:prstGeom prst="rect">
            <a:avLst/>
          </a:prstGeom>
          <a:noFill/>
          <a:ln/>
        </p:spPr>
        <p:txBody>
          <a:bodyPr wrap="square" lIns="25400" tIns="25400" rIns="25400" bIns="25400" rtlCol="0" anchor="t">
            <a:normAutofit/>
          </a:bodyPr>
          <a:lstStyle/>
          <a:p>
            <a:pPr algn="l" indent="0" marL="0">
              <a:buNone/>
            </a:pPr>
            <a:r>
              <a:rPr lang="en-US" sz="1800" dirty="0">
                <a:solidFill>
                  <a:srgbClr val="7A766E"/>
                </a:solidFill>
                <a:latin typeface="Courier New" pitchFamily="34" charset="0"/>
                <a:ea typeface="Courier New" pitchFamily="34" charset="-122"/>
                <a:cs typeface="Courier New" pitchFamily="34" charset="-120"/>
              </a:rPr>
              <a:t>256 · korak 128 · Hamming</a:t>
            </a:r>
            <a:endParaRPr lang="en-US" sz="1800" dirty="0"/>
          </a:p>
        </p:txBody>
      </p:sp>
      <p:sp>
        <p:nvSpPr>
          <p:cNvPr id="11" name="Text 9"/>
          <p:cNvSpPr/>
          <p:nvPr/>
        </p:nvSpPr>
        <p:spPr>
          <a:xfrm>
            <a:off x="9065419" y="2101929"/>
            <a:ext cx="233362" cy="1421130"/>
          </a:xfrm>
          <a:prstGeom prst="rect">
            <a:avLst/>
          </a:prstGeom>
          <a:noFill/>
          <a:ln/>
        </p:spPr>
        <p:txBody>
          <a:bodyPr wrap="square" lIns="25400" tIns="25400" rIns="25400" bIns="25400" rtlCol="0" anchor="ctr">
            <a:normAutofit/>
          </a:bodyPr>
          <a:lstStyle/>
          <a:p>
            <a:pPr algn="l" indent="0" marL="0">
              <a:buNone/>
            </a:pPr>
            <a:r>
              <a:rPr lang="en-US" sz="2250" dirty="0">
                <a:solidFill>
                  <a:srgbClr val="6A3FB0"/>
                </a:solidFill>
                <a:latin typeface="Courier New" pitchFamily="34" charset="0"/>
                <a:ea typeface="Courier New" pitchFamily="34" charset="-122"/>
                <a:cs typeface="Courier New" pitchFamily="34" charset="-120"/>
              </a:rPr>
              <a:t>→</a:t>
            </a:r>
            <a:endParaRPr lang="en-US" sz="2250" dirty="0"/>
          </a:p>
        </p:txBody>
      </p:sp>
      <p:sp>
        <p:nvSpPr>
          <p:cNvPr id="12" name="Shape 10"/>
          <p:cNvSpPr/>
          <p:nvPr/>
        </p:nvSpPr>
        <p:spPr>
          <a:xfrm>
            <a:off x="9355931" y="2101929"/>
            <a:ext cx="3777853" cy="1383030"/>
          </a:xfrm>
          <a:prstGeom prst="roundRect">
            <a:avLst>
              <a:gd name="adj" fmla="val 8264"/>
            </a:avLst>
          </a:prstGeom>
          <a:solidFill>
            <a:srgbClr val="FFFFFF"/>
          </a:solidFill>
          <a:ln w="7620">
            <a:solidFill>
              <a:srgbClr val="E7E2D7"/>
            </a:solidFill>
            <a:prstDash val="solid"/>
          </a:ln>
        </p:spPr>
      </p:sp>
      <p:sp>
        <p:nvSpPr>
          <p:cNvPr id="13" name="Text 11"/>
          <p:cNvSpPr/>
          <p:nvPr/>
        </p:nvSpPr>
        <p:spPr>
          <a:xfrm>
            <a:off x="9573101" y="2338149"/>
            <a:ext cx="3677864"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221F29"/>
                </a:solidFill>
                <a:latin typeface="Courier New" pitchFamily="34" charset="0"/>
                <a:ea typeface="Courier New" pitchFamily="34" charset="-122"/>
                <a:cs typeface="Courier New" pitchFamily="34" charset="-120"/>
              </a:rPr>
              <a:t>Spektrogram</a:t>
            </a:r>
            <a:endParaRPr lang="en-US" sz="1800" dirty="0"/>
          </a:p>
        </p:txBody>
      </p:sp>
      <p:sp>
        <p:nvSpPr>
          <p:cNvPr id="14" name="Text 12"/>
          <p:cNvSpPr/>
          <p:nvPr/>
        </p:nvSpPr>
        <p:spPr>
          <a:xfrm>
            <a:off x="9573101" y="2654380"/>
            <a:ext cx="3677864" cy="335280"/>
          </a:xfrm>
          <a:prstGeom prst="rect">
            <a:avLst/>
          </a:prstGeom>
          <a:noFill/>
          <a:ln/>
        </p:spPr>
        <p:txBody>
          <a:bodyPr wrap="square" lIns="25400" tIns="25400" rIns="25400" bIns="25400" rtlCol="0" anchor="t">
            <a:normAutofit/>
          </a:bodyPr>
          <a:lstStyle/>
          <a:p>
            <a:pPr algn="l" indent="0" marL="0">
              <a:buNone/>
            </a:pPr>
            <a:r>
              <a:rPr lang="en-US" sz="1800" dirty="0">
                <a:solidFill>
                  <a:srgbClr val="7A766E"/>
                </a:solidFill>
                <a:latin typeface="Courier New" pitchFamily="34" charset="0"/>
                <a:ea typeface="Courier New" pitchFamily="34" charset="-122"/>
                <a:cs typeface="Courier New" pitchFamily="34" charset="-120"/>
              </a:rPr>
              <a:t>log-dB · 224×224 RGB</a:t>
            </a:r>
            <a:endParaRPr lang="en-US" sz="1800" dirty="0"/>
          </a:p>
        </p:txBody>
      </p:sp>
      <p:sp>
        <p:nvSpPr>
          <p:cNvPr id="15" name="Text 13"/>
          <p:cNvSpPr/>
          <p:nvPr/>
        </p:nvSpPr>
        <p:spPr>
          <a:xfrm>
            <a:off x="13267134" y="2101929"/>
            <a:ext cx="233362" cy="1421130"/>
          </a:xfrm>
          <a:prstGeom prst="rect">
            <a:avLst/>
          </a:prstGeom>
          <a:noFill/>
          <a:ln/>
        </p:spPr>
        <p:txBody>
          <a:bodyPr wrap="square" lIns="25400" tIns="25400" rIns="25400" bIns="25400" rtlCol="0" anchor="ctr">
            <a:normAutofit/>
          </a:bodyPr>
          <a:lstStyle/>
          <a:p>
            <a:pPr algn="l" indent="0" marL="0">
              <a:buNone/>
            </a:pPr>
            <a:r>
              <a:rPr lang="en-US" sz="2250" dirty="0">
                <a:solidFill>
                  <a:srgbClr val="6A3FB0"/>
                </a:solidFill>
                <a:latin typeface="Courier New" pitchFamily="34" charset="0"/>
                <a:ea typeface="Courier New" pitchFamily="34" charset="-122"/>
                <a:cs typeface="Courier New" pitchFamily="34" charset="-120"/>
              </a:rPr>
              <a:t>→</a:t>
            </a:r>
            <a:endParaRPr lang="en-US" sz="2250" dirty="0"/>
          </a:p>
        </p:txBody>
      </p:sp>
      <p:sp>
        <p:nvSpPr>
          <p:cNvPr id="16" name="Shape 14"/>
          <p:cNvSpPr/>
          <p:nvPr/>
        </p:nvSpPr>
        <p:spPr>
          <a:xfrm>
            <a:off x="13557647" y="2101929"/>
            <a:ext cx="3777853" cy="1383030"/>
          </a:xfrm>
          <a:prstGeom prst="roundRect">
            <a:avLst>
              <a:gd name="adj" fmla="val 8264"/>
            </a:avLst>
          </a:prstGeom>
          <a:solidFill>
            <a:srgbClr val="EFE9F8"/>
          </a:solidFill>
          <a:ln w="7620">
            <a:solidFill>
              <a:srgbClr val="DCCFF2"/>
            </a:solidFill>
            <a:prstDash val="solid"/>
          </a:ln>
        </p:spPr>
      </p:sp>
      <p:sp>
        <p:nvSpPr>
          <p:cNvPr id="17" name="Text 15"/>
          <p:cNvSpPr/>
          <p:nvPr/>
        </p:nvSpPr>
        <p:spPr>
          <a:xfrm>
            <a:off x="13774817" y="2338149"/>
            <a:ext cx="3677864"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5A2FA0"/>
                </a:solidFill>
                <a:latin typeface="Courier New" pitchFamily="34" charset="0"/>
                <a:ea typeface="Courier New" pitchFamily="34" charset="-122"/>
                <a:cs typeface="Courier New" pitchFamily="34" charset="-120"/>
              </a:rPr>
              <a:t>ResNet50</a:t>
            </a:r>
            <a:endParaRPr lang="en-US" sz="1800" dirty="0"/>
          </a:p>
        </p:txBody>
      </p:sp>
      <p:sp>
        <p:nvSpPr>
          <p:cNvPr id="18" name="Text 16"/>
          <p:cNvSpPr/>
          <p:nvPr/>
        </p:nvSpPr>
        <p:spPr>
          <a:xfrm>
            <a:off x="13774817" y="2654380"/>
            <a:ext cx="3677864" cy="335280"/>
          </a:xfrm>
          <a:prstGeom prst="rect">
            <a:avLst/>
          </a:prstGeom>
          <a:noFill/>
          <a:ln/>
        </p:spPr>
        <p:txBody>
          <a:bodyPr wrap="square" lIns="25400" tIns="25400" rIns="25400" bIns="25400" rtlCol="0" anchor="t">
            <a:normAutofit/>
          </a:bodyPr>
          <a:lstStyle/>
          <a:p>
            <a:pPr algn="l" indent="0" marL="0">
              <a:buNone/>
            </a:pPr>
            <a:r>
              <a:rPr lang="en-US" sz="1800" dirty="0">
                <a:solidFill>
                  <a:srgbClr val="7A6AA0"/>
                </a:solidFill>
                <a:latin typeface="Courier New" pitchFamily="34" charset="0"/>
                <a:ea typeface="Courier New" pitchFamily="34" charset="-122"/>
                <a:cs typeface="Courier New" pitchFamily="34" charset="-120"/>
              </a:rPr>
              <a:t>→ 4 klase</a:t>
            </a:r>
            <a:endParaRPr lang="en-US" sz="1800" dirty="0"/>
          </a:p>
        </p:txBody>
      </p:sp>
      <p:sp>
        <p:nvSpPr>
          <p:cNvPr id="19" name="Shape 17"/>
          <p:cNvSpPr/>
          <p:nvPr/>
        </p:nvSpPr>
        <p:spPr>
          <a:xfrm>
            <a:off x="952500" y="3808809"/>
            <a:ext cx="8029575" cy="5716191"/>
          </a:xfrm>
          <a:prstGeom prst="roundRect">
            <a:avLst>
              <a:gd name="adj" fmla="val 2000"/>
            </a:avLst>
          </a:prstGeom>
          <a:solidFill>
            <a:srgbClr val="FFFFFF"/>
          </a:solidFill>
          <a:ln w="7620">
            <a:solidFill>
              <a:srgbClr val="E7E2D7"/>
            </a:solidFill>
            <a:prstDash val="solid"/>
          </a:ln>
        </p:spPr>
      </p:sp>
      <p:sp>
        <p:nvSpPr>
          <p:cNvPr id="20" name="Text 18"/>
          <p:cNvSpPr/>
          <p:nvPr/>
        </p:nvSpPr>
        <p:spPr>
          <a:xfrm>
            <a:off x="1322070" y="4178380"/>
            <a:ext cx="8019479" cy="33528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F6B63"/>
                </a:solidFill>
                <a:latin typeface="Courier New" pitchFamily="34" charset="0"/>
                <a:ea typeface="Courier New" pitchFamily="34" charset="-122"/>
                <a:cs typeface="Courier New" pitchFamily="34" charset="-120"/>
              </a:rPr>
              <a:t>BAZA · PHYSIONET / CINC 2017</a:t>
            </a:r>
            <a:endParaRPr lang="en-US" sz="1800" dirty="0"/>
          </a:p>
        </p:txBody>
      </p:sp>
      <p:sp>
        <p:nvSpPr>
          <p:cNvPr id="21" name="Text 19"/>
          <p:cNvSpPr/>
          <p:nvPr/>
        </p:nvSpPr>
        <p:spPr>
          <a:xfrm>
            <a:off x="1322070" y="4685109"/>
            <a:ext cx="2561356" cy="510540"/>
          </a:xfrm>
          <a:prstGeom prst="rect">
            <a:avLst/>
          </a:prstGeom>
          <a:noFill/>
          <a:ln/>
        </p:spPr>
        <p:txBody>
          <a:bodyPr wrap="square" lIns="25400" tIns="25400" rIns="25400" bIns="25400" rtlCol="0" anchor="t">
            <a:normAutofit/>
          </a:bodyPr>
          <a:lstStyle/>
          <a:p>
            <a:pPr algn="l" indent="0" marL="0">
              <a:buNone/>
            </a:pPr>
            <a:r>
              <a:rPr lang="en-US" sz="3300" b="1" dirty="0">
                <a:solidFill>
                  <a:srgbClr val="221F29"/>
                </a:solidFill>
                <a:latin typeface="Georgia" pitchFamily="34" charset="0"/>
                <a:ea typeface="Georgia" pitchFamily="34" charset="-122"/>
                <a:cs typeface="Georgia" pitchFamily="34" charset="-120"/>
              </a:rPr>
              <a:t>12 186</a:t>
            </a:r>
            <a:endParaRPr lang="en-US" sz="3300" dirty="0"/>
          </a:p>
        </p:txBody>
      </p:sp>
      <p:sp>
        <p:nvSpPr>
          <p:cNvPr id="22" name="Text 20"/>
          <p:cNvSpPr/>
          <p:nvPr/>
        </p:nvSpPr>
        <p:spPr>
          <a:xfrm>
            <a:off x="1322070" y="5157550"/>
            <a:ext cx="2561356" cy="335280"/>
          </a:xfrm>
          <a:prstGeom prst="rect">
            <a:avLst/>
          </a:prstGeom>
          <a:noFill/>
          <a:ln/>
        </p:spPr>
        <p:txBody>
          <a:bodyPr wrap="square" lIns="25400" tIns="25400" rIns="25400" bIns="25400" rtlCol="0" anchor="t">
            <a:normAutofit/>
          </a:bodyPr>
          <a:lstStyle/>
          <a:p>
            <a:pPr algn="l" indent="0" marL="0">
              <a:buNone/>
            </a:pPr>
            <a:r>
              <a:rPr lang="en-US" sz="1800" dirty="0">
                <a:solidFill>
                  <a:srgbClr val="6F6B63"/>
                </a:solidFill>
                <a:latin typeface="Arial" pitchFamily="34" charset="0"/>
                <a:ea typeface="Arial" pitchFamily="34" charset="-122"/>
                <a:cs typeface="Arial" pitchFamily="34" charset="-120"/>
              </a:rPr>
              <a:t>EKG zapisa</a:t>
            </a:r>
            <a:endParaRPr lang="en-US" sz="1800" dirty="0"/>
          </a:p>
        </p:txBody>
      </p:sp>
      <p:sp>
        <p:nvSpPr>
          <p:cNvPr id="23" name="Text 21"/>
          <p:cNvSpPr/>
          <p:nvPr/>
        </p:nvSpPr>
        <p:spPr>
          <a:xfrm>
            <a:off x="3802975" y="4685109"/>
            <a:ext cx="2561487" cy="510540"/>
          </a:xfrm>
          <a:prstGeom prst="rect">
            <a:avLst/>
          </a:prstGeom>
          <a:noFill/>
          <a:ln/>
        </p:spPr>
        <p:txBody>
          <a:bodyPr wrap="square" lIns="25400" tIns="25400" rIns="25400" bIns="25400" rtlCol="0" anchor="t">
            <a:normAutofit/>
          </a:bodyPr>
          <a:lstStyle/>
          <a:p>
            <a:pPr algn="l" indent="0" marL="0">
              <a:buNone/>
            </a:pPr>
            <a:r>
              <a:rPr lang="en-US" sz="3300" b="1" dirty="0">
                <a:solidFill>
                  <a:srgbClr val="221F29"/>
                </a:solidFill>
                <a:latin typeface="Georgia" pitchFamily="34" charset="0"/>
                <a:ea typeface="Georgia" pitchFamily="34" charset="-122"/>
                <a:cs typeface="Georgia" pitchFamily="34" charset="-120"/>
              </a:rPr>
              <a:t>9–60 s</a:t>
            </a:r>
            <a:endParaRPr lang="en-US" sz="3300" dirty="0"/>
          </a:p>
        </p:txBody>
      </p:sp>
      <p:sp>
        <p:nvSpPr>
          <p:cNvPr id="24" name="Text 22"/>
          <p:cNvSpPr/>
          <p:nvPr/>
        </p:nvSpPr>
        <p:spPr>
          <a:xfrm>
            <a:off x="3802975" y="5157550"/>
            <a:ext cx="2561487" cy="335280"/>
          </a:xfrm>
          <a:prstGeom prst="rect">
            <a:avLst/>
          </a:prstGeom>
          <a:noFill/>
          <a:ln/>
        </p:spPr>
        <p:txBody>
          <a:bodyPr wrap="square" lIns="25400" tIns="25400" rIns="25400" bIns="25400" rtlCol="0" anchor="t">
            <a:normAutofit/>
          </a:bodyPr>
          <a:lstStyle/>
          <a:p>
            <a:pPr algn="l" indent="0" marL="0">
              <a:buNone/>
            </a:pPr>
            <a:r>
              <a:rPr lang="en-US" sz="1800" dirty="0">
                <a:solidFill>
                  <a:srgbClr val="6F6B63"/>
                </a:solidFill>
                <a:latin typeface="Arial" pitchFamily="34" charset="0"/>
                <a:ea typeface="Arial" pitchFamily="34" charset="-122"/>
                <a:cs typeface="Arial" pitchFamily="34" charset="-120"/>
              </a:rPr>
              <a:t>dužina</a:t>
            </a:r>
            <a:endParaRPr lang="en-US" sz="1800" dirty="0"/>
          </a:p>
        </p:txBody>
      </p:sp>
      <p:sp>
        <p:nvSpPr>
          <p:cNvPr id="25" name="Text 23"/>
          <p:cNvSpPr/>
          <p:nvPr/>
        </p:nvSpPr>
        <p:spPr>
          <a:xfrm>
            <a:off x="6284000" y="4685109"/>
            <a:ext cx="2561356" cy="510540"/>
          </a:xfrm>
          <a:prstGeom prst="rect">
            <a:avLst/>
          </a:prstGeom>
          <a:noFill/>
          <a:ln/>
        </p:spPr>
        <p:txBody>
          <a:bodyPr wrap="square" lIns="25400" tIns="25400" rIns="25400" bIns="25400" rtlCol="0" anchor="t">
            <a:normAutofit/>
          </a:bodyPr>
          <a:lstStyle/>
          <a:p>
            <a:pPr algn="l" indent="0" marL="0">
              <a:buNone/>
            </a:pPr>
            <a:r>
              <a:rPr lang="en-US" sz="3300" b="1" dirty="0">
                <a:solidFill>
                  <a:srgbClr val="221F29"/>
                </a:solidFill>
                <a:latin typeface="Georgia" pitchFamily="34" charset="0"/>
                <a:ea typeface="Georgia" pitchFamily="34" charset="-122"/>
                <a:cs typeface="Georgia" pitchFamily="34" charset="-120"/>
              </a:rPr>
              <a:t>80 : 20</a:t>
            </a:r>
            <a:endParaRPr lang="en-US" sz="3300" dirty="0"/>
          </a:p>
        </p:txBody>
      </p:sp>
      <p:sp>
        <p:nvSpPr>
          <p:cNvPr id="26" name="Text 24"/>
          <p:cNvSpPr/>
          <p:nvPr/>
        </p:nvSpPr>
        <p:spPr>
          <a:xfrm>
            <a:off x="6284000" y="5157550"/>
            <a:ext cx="2561356" cy="335280"/>
          </a:xfrm>
          <a:prstGeom prst="rect">
            <a:avLst/>
          </a:prstGeom>
          <a:noFill/>
          <a:ln/>
        </p:spPr>
        <p:txBody>
          <a:bodyPr wrap="square" lIns="25400" tIns="25400" rIns="25400" bIns="25400" rtlCol="0" anchor="t">
            <a:normAutofit/>
          </a:bodyPr>
          <a:lstStyle/>
          <a:p>
            <a:pPr algn="l" indent="0" marL="0">
              <a:buNone/>
            </a:pPr>
            <a:r>
              <a:rPr lang="en-US" sz="1800" dirty="0">
                <a:solidFill>
                  <a:srgbClr val="6F6B63"/>
                </a:solidFill>
                <a:latin typeface="Arial" pitchFamily="34" charset="0"/>
                <a:ea typeface="Arial" pitchFamily="34" charset="-122"/>
                <a:cs typeface="Arial" pitchFamily="34" charset="-120"/>
              </a:rPr>
              <a:t>train · val</a:t>
            </a:r>
            <a:endParaRPr lang="en-US" sz="1800" dirty="0"/>
          </a:p>
        </p:txBody>
      </p:sp>
      <p:sp>
        <p:nvSpPr>
          <p:cNvPr id="27" name="Shape 25"/>
          <p:cNvSpPr/>
          <p:nvPr/>
        </p:nvSpPr>
        <p:spPr>
          <a:xfrm>
            <a:off x="1322070" y="5702379"/>
            <a:ext cx="1455420" cy="541020"/>
          </a:xfrm>
          <a:prstGeom prst="roundRect">
            <a:avLst>
              <a:gd name="adj" fmla="val 50000"/>
            </a:avLst>
          </a:prstGeom>
          <a:solidFill>
            <a:srgbClr val="F4F1EA"/>
          </a:solidFill>
          <a:ln w="7620">
            <a:solidFill>
              <a:srgbClr val="E7E2D7"/>
            </a:solidFill>
            <a:prstDash val="solid"/>
          </a:ln>
        </p:spPr>
      </p:sp>
      <p:sp>
        <p:nvSpPr>
          <p:cNvPr id="28" name="Text 26"/>
          <p:cNvSpPr/>
          <p:nvPr/>
        </p:nvSpPr>
        <p:spPr>
          <a:xfrm>
            <a:off x="1501140" y="5824299"/>
            <a:ext cx="1173480" cy="335280"/>
          </a:xfrm>
          <a:prstGeom prst="rect">
            <a:avLst/>
          </a:prstGeom>
          <a:noFill/>
          <a:ln/>
        </p:spPr>
        <p:txBody>
          <a:bodyPr wrap="square" lIns="25400" tIns="25400" rIns="25400" bIns="25400" rtlCol="0" anchor="t">
            <a:normAutofit/>
          </a:bodyPr>
          <a:lstStyle/>
          <a:p>
            <a:pPr algn="l" indent="0" marL="0">
              <a:buNone/>
            </a:pPr>
            <a:r>
              <a:rPr lang="en-US" sz="1800" dirty="0">
                <a:solidFill>
                  <a:srgbClr val="221F29"/>
                </a:solidFill>
                <a:latin typeface="Courier New" pitchFamily="34" charset="0"/>
                <a:ea typeface="Courier New" pitchFamily="34" charset="-122"/>
                <a:cs typeface="Courier New" pitchFamily="34" charset="-120"/>
              </a:rPr>
              <a:t>Normalan</a:t>
            </a:r>
            <a:endParaRPr lang="en-US" sz="1800" dirty="0"/>
          </a:p>
        </p:txBody>
      </p:sp>
      <p:sp>
        <p:nvSpPr>
          <p:cNvPr id="29" name="Shape 27"/>
          <p:cNvSpPr/>
          <p:nvPr/>
        </p:nvSpPr>
        <p:spPr>
          <a:xfrm>
            <a:off x="2891790" y="5702379"/>
            <a:ext cx="906780" cy="541020"/>
          </a:xfrm>
          <a:prstGeom prst="roundRect">
            <a:avLst>
              <a:gd name="adj" fmla="val 50000"/>
            </a:avLst>
          </a:prstGeom>
          <a:solidFill>
            <a:srgbClr val="F4F1EA"/>
          </a:solidFill>
          <a:ln w="7620">
            <a:solidFill>
              <a:srgbClr val="E7E2D7"/>
            </a:solidFill>
            <a:prstDash val="solid"/>
          </a:ln>
        </p:spPr>
      </p:sp>
      <p:sp>
        <p:nvSpPr>
          <p:cNvPr id="30" name="Text 28"/>
          <p:cNvSpPr/>
          <p:nvPr/>
        </p:nvSpPr>
        <p:spPr>
          <a:xfrm>
            <a:off x="3070860" y="5824299"/>
            <a:ext cx="624840" cy="335280"/>
          </a:xfrm>
          <a:prstGeom prst="rect">
            <a:avLst/>
          </a:prstGeom>
          <a:noFill/>
          <a:ln/>
        </p:spPr>
        <p:txBody>
          <a:bodyPr wrap="square" lIns="25400" tIns="25400" rIns="25400" bIns="25400" rtlCol="0" anchor="t">
            <a:normAutofit/>
          </a:bodyPr>
          <a:lstStyle/>
          <a:p>
            <a:pPr algn="l" indent="0" marL="0">
              <a:buNone/>
            </a:pPr>
            <a:r>
              <a:rPr lang="en-US" sz="1800" dirty="0">
                <a:solidFill>
                  <a:srgbClr val="221F29"/>
                </a:solidFill>
                <a:latin typeface="Courier New" pitchFamily="34" charset="0"/>
                <a:ea typeface="Courier New" pitchFamily="34" charset="-122"/>
                <a:cs typeface="Courier New" pitchFamily="34" charset="-120"/>
              </a:rPr>
              <a:t>AFib</a:t>
            </a:r>
            <a:endParaRPr lang="en-US" sz="1800" dirty="0"/>
          </a:p>
        </p:txBody>
      </p:sp>
      <p:sp>
        <p:nvSpPr>
          <p:cNvPr id="31" name="Shape 29"/>
          <p:cNvSpPr/>
          <p:nvPr/>
        </p:nvSpPr>
        <p:spPr>
          <a:xfrm>
            <a:off x="3912870" y="5702379"/>
            <a:ext cx="1181100" cy="541020"/>
          </a:xfrm>
          <a:prstGeom prst="roundRect">
            <a:avLst>
              <a:gd name="adj" fmla="val 50000"/>
            </a:avLst>
          </a:prstGeom>
          <a:solidFill>
            <a:srgbClr val="F4F1EA"/>
          </a:solidFill>
          <a:ln w="7620">
            <a:solidFill>
              <a:srgbClr val="E7E2D7"/>
            </a:solidFill>
            <a:prstDash val="solid"/>
          </a:ln>
        </p:spPr>
      </p:sp>
      <p:sp>
        <p:nvSpPr>
          <p:cNvPr id="32" name="Text 30"/>
          <p:cNvSpPr/>
          <p:nvPr/>
        </p:nvSpPr>
        <p:spPr>
          <a:xfrm>
            <a:off x="4091940" y="5824299"/>
            <a:ext cx="899160" cy="335280"/>
          </a:xfrm>
          <a:prstGeom prst="rect">
            <a:avLst/>
          </a:prstGeom>
          <a:noFill/>
          <a:ln/>
        </p:spPr>
        <p:txBody>
          <a:bodyPr wrap="square" lIns="25400" tIns="25400" rIns="25400" bIns="25400" rtlCol="0" anchor="t">
            <a:normAutofit/>
          </a:bodyPr>
          <a:lstStyle/>
          <a:p>
            <a:pPr algn="l" indent="0" marL="0">
              <a:buNone/>
            </a:pPr>
            <a:r>
              <a:rPr lang="en-US" sz="1800" dirty="0">
                <a:solidFill>
                  <a:srgbClr val="221F29"/>
                </a:solidFill>
                <a:latin typeface="Courier New" pitchFamily="34" charset="0"/>
                <a:ea typeface="Courier New" pitchFamily="34" charset="-122"/>
                <a:cs typeface="Courier New" pitchFamily="34" charset="-120"/>
              </a:rPr>
              <a:t>Ostalo</a:t>
            </a:r>
            <a:endParaRPr lang="en-US" sz="1800" dirty="0"/>
          </a:p>
        </p:txBody>
      </p:sp>
      <p:sp>
        <p:nvSpPr>
          <p:cNvPr id="33" name="Shape 31"/>
          <p:cNvSpPr/>
          <p:nvPr/>
        </p:nvSpPr>
        <p:spPr>
          <a:xfrm>
            <a:off x="5208270" y="5702379"/>
            <a:ext cx="769620" cy="541020"/>
          </a:xfrm>
          <a:prstGeom prst="roundRect">
            <a:avLst>
              <a:gd name="adj" fmla="val 50000"/>
            </a:avLst>
          </a:prstGeom>
          <a:solidFill>
            <a:srgbClr val="F4F1EA"/>
          </a:solidFill>
          <a:ln w="7620">
            <a:solidFill>
              <a:srgbClr val="E7E2D7"/>
            </a:solidFill>
            <a:prstDash val="solid"/>
          </a:ln>
        </p:spPr>
      </p:sp>
      <p:sp>
        <p:nvSpPr>
          <p:cNvPr id="34" name="Text 32"/>
          <p:cNvSpPr/>
          <p:nvPr/>
        </p:nvSpPr>
        <p:spPr>
          <a:xfrm>
            <a:off x="5387340" y="5824299"/>
            <a:ext cx="487680" cy="335280"/>
          </a:xfrm>
          <a:prstGeom prst="rect">
            <a:avLst/>
          </a:prstGeom>
          <a:noFill/>
          <a:ln/>
        </p:spPr>
        <p:txBody>
          <a:bodyPr wrap="square" lIns="25400" tIns="25400" rIns="25400" bIns="25400" rtlCol="0" anchor="t">
            <a:normAutofit/>
          </a:bodyPr>
          <a:lstStyle/>
          <a:p>
            <a:pPr algn="l" indent="0" marL="0">
              <a:buNone/>
            </a:pPr>
            <a:r>
              <a:rPr lang="en-US" sz="1800" dirty="0">
                <a:solidFill>
                  <a:srgbClr val="221F29"/>
                </a:solidFill>
                <a:latin typeface="Courier New" pitchFamily="34" charset="0"/>
                <a:ea typeface="Courier New" pitchFamily="34" charset="-122"/>
                <a:cs typeface="Courier New" pitchFamily="34" charset="-120"/>
              </a:rPr>
              <a:t>Šum</a:t>
            </a:r>
            <a:endParaRPr lang="en-US" sz="1800" dirty="0"/>
          </a:p>
        </p:txBody>
      </p:sp>
      <p:sp>
        <p:nvSpPr>
          <p:cNvPr id="35" name="Shape 33"/>
          <p:cNvSpPr/>
          <p:nvPr/>
        </p:nvSpPr>
        <p:spPr>
          <a:xfrm>
            <a:off x="9305925" y="3808809"/>
            <a:ext cx="8029575" cy="5716191"/>
          </a:xfrm>
          <a:prstGeom prst="roundRect">
            <a:avLst>
              <a:gd name="adj" fmla="val 2000"/>
            </a:avLst>
          </a:prstGeom>
          <a:solidFill>
            <a:srgbClr val="FFFFFF"/>
          </a:solidFill>
          <a:ln w="7620">
            <a:solidFill>
              <a:srgbClr val="E7E2D7"/>
            </a:solidFill>
            <a:prstDash val="solid"/>
          </a:ln>
        </p:spPr>
      </p:sp>
      <p:sp>
        <p:nvSpPr>
          <p:cNvPr id="36" name="Text 34"/>
          <p:cNvSpPr/>
          <p:nvPr/>
        </p:nvSpPr>
        <p:spPr>
          <a:xfrm>
            <a:off x="9675495" y="4178380"/>
            <a:ext cx="8019479" cy="33528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F6B63"/>
                </a:solidFill>
                <a:latin typeface="Courier New" pitchFamily="34" charset="0"/>
                <a:ea typeface="Courier New" pitchFamily="34" charset="-122"/>
                <a:cs typeface="Courier New" pitchFamily="34" charset="-120"/>
              </a:rPr>
              <a:t>MODEL · RESNET50 + FINE-TUNING</a:t>
            </a:r>
            <a:endParaRPr lang="en-US" sz="1800" dirty="0"/>
          </a:p>
        </p:txBody>
      </p:sp>
      <p:sp>
        <p:nvSpPr>
          <p:cNvPr id="37" name="Text 35"/>
          <p:cNvSpPr/>
          <p:nvPr/>
        </p:nvSpPr>
        <p:spPr>
          <a:xfrm>
            <a:off x="9675495" y="4666059"/>
            <a:ext cx="7509148" cy="1141214"/>
          </a:xfrm>
          <a:prstGeom prst="rect">
            <a:avLst/>
          </a:prstGeom>
          <a:noFill/>
          <a:ln/>
        </p:spPr>
        <p:txBody>
          <a:bodyPr wrap="square" lIns="25400" tIns="25400" rIns="25400" bIns="25400" rtlCol="0" anchor="t">
            <a:normAutofit/>
          </a:bodyPr>
          <a:lstStyle/>
          <a:p>
            <a:pPr algn="l" indent="0" marL="0">
              <a:lnSpc>
                <a:spcPct val="142000"/>
              </a:lnSpc>
              <a:buNone/>
            </a:pPr>
            <a:r>
              <a:rPr lang="en-US" sz="2025" dirty="0">
                <a:solidFill>
                  <a:srgbClr val="45424B"/>
                </a:solidFill>
                <a:latin typeface="Arial" pitchFamily="34" charset="0"/>
                <a:ea typeface="Arial" pitchFamily="34" charset="-122"/>
                <a:cs typeface="Arial" pitchFamily="34" charset="-120"/>
              </a:rPr>
              <a:t>Pretrenirana na ImageNet-u (1.2M slika). </a:t>
            </a:r>
            <a:pPr algn="l" indent="0" marL="0">
              <a:lnSpc>
                <a:spcPct val="142000"/>
              </a:lnSpc>
              <a:buNone/>
            </a:pPr>
            <a:r>
              <a:rPr lang="en-US" sz="2025" b="1" dirty="0">
                <a:solidFill>
                  <a:srgbClr val="5A2FA0"/>
                </a:solidFill>
                <a:latin typeface="Arial" pitchFamily="34" charset="0"/>
                <a:ea typeface="Arial" pitchFamily="34" charset="-122"/>
                <a:cs typeface="Arial" pitchFamily="34" charset="-120"/>
              </a:rPr>
              <a:t>Feature extraction </a:t>
            </a:r>
            <a:pPr algn="l" indent="0" marL="0">
              <a:lnSpc>
                <a:spcPct val="142000"/>
              </a:lnSpc>
              <a:buNone/>
            </a:pPr>
            <a:r>
              <a:rPr lang="en-US" sz="2025" dirty="0">
                <a:solidFill>
                  <a:srgbClr val="45424B"/>
                </a:solidFill>
                <a:latin typeface="Arial" pitchFamily="34" charset="0"/>
                <a:ea typeface="Arial" pitchFamily="34" charset="-122"/>
                <a:cs typeface="Arial" pitchFamily="34" charset="-120"/>
              </a:rPr>
              <a:t>: konvolucijski slojevi zamrznuti, trenira se samo novi izlazni sloj za 4 klase.</a:t>
            </a:r>
            <a:endParaRPr lang="en-US" sz="2025" dirty="0"/>
          </a:p>
        </p:txBody>
      </p:sp>
      <p:sp>
        <p:nvSpPr>
          <p:cNvPr id="38" name="Shape 36"/>
          <p:cNvSpPr/>
          <p:nvPr/>
        </p:nvSpPr>
        <p:spPr>
          <a:xfrm>
            <a:off x="9675495" y="5959673"/>
            <a:ext cx="7290435" cy="9525"/>
          </a:xfrm>
          <a:prstGeom prst="rect">
            <a:avLst/>
          </a:prstGeom>
          <a:solidFill>
            <a:srgbClr val="ECE7DC"/>
          </a:solidFill>
          <a:ln/>
        </p:spPr>
      </p:sp>
      <p:sp>
        <p:nvSpPr>
          <p:cNvPr id="39" name="Text 37"/>
          <p:cNvSpPr/>
          <p:nvPr/>
        </p:nvSpPr>
        <p:spPr>
          <a:xfrm>
            <a:off x="9675495" y="6138743"/>
            <a:ext cx="1659636" cy="335280"/>
          </a:xfrm>
          <a:prstGeom prst="rect">
            <a:avLst/>
          </a:prstGeom>
          <a:noFill/>
          <a:ln/>
        </p:spPr>
        <p:txBody>
          <a:bodyPr wrap="square" lIns="25400" tIns="25400" rIns="25400" bIns="25400" rtlCol="0" anchor="t">
            <a:normAutofit/>
          </a:bodyPr>
          <a:lstStyle/>
          <a:p>
            <a:pPr algn="l" indent="0" marL="0">
              <a:buNone/>
            </a:pPr>
            <a:r>
              <a:rPr lang="en-US" sz="1800" dirty="0">
                <a:solidFill>
                  <a:srgbClr val="7A766E"/>
                </a:solidFill>
                <a:latin typeface="Courier New" pitchFamily="34" charset="0"/>
                <a:ea typeface="Courier New" pitchFamily="34" charset="-122"/>
                <a:cs typeface="Courier New" pitchFamily="34" charset="-120"/>
              </a:rPr>
              <a:t>optimizator</a:t>
            </a:r>
            <a:endParaRPr lang="en-US" sz="1800" dirty="0"/>
          </a:p>
        </p:txBody>
      </p:sp>
      <p:sp>
        <p:nvSpPr>
          <p:cNvPr id="40" name="Text 38"/>
          <p:cNvSpPr/>
          <p:nvPr/>
        </p:nvSpPr>
        <p:spPr>
          <a:xfrm>
            <a:off x="14908531" y="6138743"/>
            <a:ext cx="2263140" cy="335280"/>
          </a:xfrm>
          <a:prstGeom prst="rect">
            <a:avLst/>
          </a:prstGeom>
          <a:noFill/>
          <a:ln/>
        </p:spPr>
        <p:txBody>
          <a:bodyPr wrap="square" lIns="25400" tIns="25400" rIns="25400" bIns="25400" rtlCol="0" anchor="t">
            <a:normAutofit/>
          </a:bodyPr>
          <a:lstStyle/>
          <a:p>
            <a:pPr algn="l" indent="0" marL="0">
              <a:buNone/>
            </a:pPr>
            <a:r>
              <a:rPr lang="en-US" sz="1800" dirty="0">
                <a:solidFill>
                  <a:srgbClr val="45424B"/>
                </a:solidFill>
                <a:latin typeface="Courier New" pitchFamily="34" charset="0"/>
                <a:ea typeface="Courier New" pitchFamily="34" charset="-122"/>
                <a:cs typeface="Courier New" pitchFamily="34" charset="-120"/>
              </a:rPr>
              <a:t>Adam · lr 0.001</a:t>
            </a:r>
            <a:endParaRPr lang="en-US" sz="1800" dirty="0"/>
          </a:p>
        </p:txBody>
      </p:sp>
      <p:sp>
        <p:nvSpPr>
          <p:cNvPr id="41" name="Text 39"/>
          <p:cNvSpPr/>
          <p:nvPr/>
        </p:nvSpPr>
        <p:spPr>
          <a:xfrm>
            <a:off x="9675495" y="6521648"/>
            <a:ext cx="1036320" cy="335280"/>
          </a:xfrm>
          <a:prstGeom prst="rect">
            <a:avLst/>
          </a:prstGeom>
          <a:noFill/>
          <a:ln/>
        </p:spPr>
        <p:txBody>
          <a:bodyPr wrap="square" lIns="25400" tIns="25400" rIns="25400" bIns="25400" rtlCol="0" anchor="t">
            <a:normAutofit/>
          </a:bodyPr>
          <a:lstStyle/>
          <a:p>
            <a:pPr algn="l" indent="0" marL="0">
              <a:buNone/>
            </a:pPr>
            <a:r>
              <a:rPr lang="en-US" sz="1800" dirty="0">
                <a:solidFill>
                  <a:srgbClr val="7A766E"/>
                </a:solidFill>
                <a:latin typeface="Courier New" pitchFamily="34" charset="0"/>
                <a:ea typeface="Courier New" pitchFamily="34" charset="-122"/>
                <a:cs typeface="Courier New" pitchFamily="34" charset="-120"/>
              </a:rPr>
              <a:t>gubitak</a:t>
            </a:r>
            <a:endParaRPr lang="en-US" sz="1800" dirty="0"/>
          </a:p>
        </p:txBody>
      </p:sp>
      <p:sp>
        <p:nvSpPr>
          <p:cNvPr id="42" name="Text 40"/>
          <p:cNvSpPr/>
          <p:nvPr/>
        </p:nvSpPr>
        <p:spPr>
          <a:xfrm>
            <a:off x="15182850" y="6521648"/>
            <a:ext cx="1961388" cy="335280"/>
          </a:xfrm>
          <a:prstGeom prst="rect">
            <a:avLst/>
          </a:prstGeom>
          <a:noFill/>
          <a:ln/>
        </p:spPr>
        <p:txBody>
          <a:bodyPr wrap="square" lIns="25400" tIns="25400" rIns="25400" bIns="25400" rtlCol="0" anchor="t">
            <a:normAutofit/>
          </a:bodyPr>
          <a:lstStyle/>
          <a:p>
            <a:pPr algn="l" indent="0" marL="0">
              <a:buNone/>
            </a:pPr>
            <a:r>
              <a:rPr lang="en-US" sz="1800" dirty="0">
                <a:solidFill>
                  <a:srgbClr val="45424B"/>
                </a:solidFill>
                <a:latin typeface="Courier New" pitchFamily="34" charset="0"/>
                <a:ea typeface="Courier New" pitchFamily="34" charset="-122"/>
                <a:cs typeface="Courier New" pitchFamily="34" charset="-120"/>
              </a:rPr>
              <a:t>Cross-Entropy</a:t>
            </a:r>
            <a:endParaRPr lang="en-US" sz="1800" dirty="0"/>
          </a:p>
        </p:txBody>
      </p:sp>
      <p:sp>
        <p:nvSpPr>
          <p:cNvPr id="43" name="Text 41"/>
          <p:cNvSpPr/>
          <p:nvPr/>
        </p:nvSpPr>
        <p:spPr>
          <a:xfrm>
            <a:off x="9675495" y="6904554"/>
            <a:ext cx="1961388" cy="335280"/>
          </a:xfrm>
          <a:prstGeom prst="rect">
            <a:avLst/>
          </a:prstGeom>
          <a:noFill/>
          <a:ln/>
        </p:spPr>
        <p:txBody>
          <a:bodyPr wrap="square" lIns="25400" tIns="25400" rIns="25400" bIns="25400" rtlCol="0" anchor="t">
            <a:normAutofit/>
          </a:bodyPr>
          <a:lstStyle/>
          <a:p>
            <a:pPr algn="l" indent="0" marL="0">
              <a:buNone/>
            </a:pPr>
            <a:r>
              <a:rPr lang="en-US" sz="1800" dirty="0">
                <a:solidFill>
                  <a:srgbClr val="7A766E"/>
                </a:solidFill>
                <a:latin typeface="Courier New" pitchFamily="34" charset="0"/>
                <a:ea typeface="Courier New" pitchFamily="34" charset="-122"/>
                <a:cs typeface="Courier New" pitchFamily="34" charset="-120"/>
              </a:rPr>
              <a:t>epohe · batch</a:t>
            </a:r>
            <a:endParaRPr lang="en-US" sz="1800" dirty="0"/>
          </a:p>
        </p:txBody>
      </p:sp>
      <p:sp>
        <p:nvSpPr>
          <p:cNvPr id="44" name="Text 42"/>
          <p:cNvSpPr/>
          <p:nvPr/>
        </p:nvSpPr>
        <p:spPr>
          <a:xfrm>
            <a:off x="16142970" y="6904554"/>
            <a:ext cx="899160" cy="335280"/>
          </a:xfrm>
          <a:prstGeom prst="rect">
            <a:avLst/>
          </a:prstGeom>
          <a:noFill/>
          <a:ln/>
        </p:spPr>
        <p:txBody>
          <a:bodyPr wrap="square" lIns="25400" tIns="25400" rIns="25400" bIns="25400" rtlCol="0" anchor="t">
            <a:normAutofit/>
          </a:bodyPr>
          <a:lstStyle/>
          <a:p>
            <a:pPr algn="l" indent="0" marL="0">
              <a:buNone/>
            </a:pPr>
            <a:r>
              <a:rPr lang="en-US" sz="1800" dirty="0">
                <a:solidFill>
                  <a:srgbClr val="45424B"/>
                </a:solidFill>
                <a:latin typeface="Courier New" pitchFamily="34" charset="0"/>
                <a:ea typeface="Courier New" pitchFamily="34" charset="-122"/>
                <a:cs typeface="Courier New" pitchFamily="34" charset="-120"/>
              </a:rPr>
              <a:t>5 · 32</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952500" y="762000"/>
            <a:ext cx="18021300" cy="33528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A3FB0"/>
                </a:solidFill>
                <a:latin typeface="Courier New" pitchFamily="34" charset="0"/>
                <a:ea typeface="Courier New" pitchFamily="34" charset="-122"/>
                <a:cs typeface="Courier New" pitchFamily="34" charset="-120"/>
              </a:rPr>
              <a:t>03 · TEORIJSKA OSNOVA</a:t>
            </a:r>
            <a:endParaRPr lang="en-US" sz="1800" dirty="0"/>
          </a:p>
        </p:txBody>
      </p:sp>
      <p:sp>
        <p:nvSpPr>
          <p:cNvPr id="3" name="Text 1"/>
          <p:cNvSpPr/>
          <p:nvPr/>
        </p:nvSpPr>
        <p:spPr>
          <a:xfrm>
            <a:off x="952500" y="1192530"/>
            <a:ext cx="18021300" cy="643890"/>
          </a:xfrm>
          <a:prstGeom prst="rect">
            <a:avLst/>
          </a:prstGeom>
          <a:noFill/>
          <a:ln/>
        </p:spPr>
        <p:txBody>
          <a:bodyPr wrap="square" lIns="25400" tIns="25400" rIns="25400" bIns="25400" rtlCol="0" anchor="t">
            <a:normAutofit/>
          </a:bodyPr>
          <a:lstStyle/>
          <a:p>
            <a:pPr algn="l" indent="0" marL="0">
              <a:lnSpc>
                <a:spcPct val="106000"/>
              </a:lnSpc>
              <a:buNone/>
            </a:pPr>
            <a:r>
              <a:rPr lang="en-US" sz="4500" b="1" spc="-45" kern="0" dirty="0">
                <a:solidFill>
                  <a:srgbClr val="221F29"/>
                </a:solidFill>
                <a:latin typeface="Georgia" pitchFamily="34" charset="0"/>
                <a:ea typeface="Georgia" pitchFamily="34" charset="-122"/>
                <a:cs typeface="Georgia" pitchFamily="34" charset="-120"/>
              </a:rPr>
              <a:t>Četiri metode, dva pristupa objašnjivosti</a:t>
            </a:r>
            <a:endParaRPr lang="en-US" sz="4500" dirty="0"/>
          </a:p>
        </p:txBody>
      </p:sp>
      <p:sp>
        <p:nvSpPr>
          <p:cNvPr id="4" name="Text 2"/>
          <p:cNvSpPr/>
          <p:nvPr/>
        </p:nvSpPr>
        <p:spPr>
          <a:xfrm>
            <a:off x="952500" y="2122170"/>
            <a:ext cx="8884920" cy="33528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A3FB0"/>
                </a:solidFill>
                <a:latin typeface="Courier New" pitchFamily="34" charset="0"/>
                <a:ea typeface="Courier New" pitchFamily="34" charset="-122"/>
                <a:cs typeface="Courier New" pitchFamily="34" charset="-120"/>
              </a:rPr>
              <a:t>GRADIJENTNE · KORISTE GRADIJENT IZLAZA MODELA</a:t>
            </a:r>
            <a:endParaRPr lang="en-US" sz="1800" dirty="0"/>
          </a:p>
        </p:txBody>
      </p:sp>
      <p:sp>
        <p:nvSpPr>
          <p:cNvPr id="5" name="Shape 3"/>
          <p:cNvSpPr/>
          <p:nvPr/>
        </p:nvSpPr>
        <p:spPr>
          <a:xfrm>
            <a:off x="952500" y="2590800"/>
            <a:ext cx="8077200" cy="2891790"/>
          </a:xfrm>
          <a:prstGeom prst="roundRect">
            <a:avLst>
              <a:gd name="adj" fmla="val 3953"/>
            </a:avLst>
          </a:prstGeom>
          <a:solidFill>
            <a:srgbClr val="FFFFFF"/>
          </a:solidFill>
          <a:ln w="7620">
            <a:solidFill>
              <a:srgbClr val="E7E2D7"/>
            </a:solidFill>
            <a:prstDash val="solid"/>
          </a:ln>
        </p:spPr>
      </p:sp>
      <p:sp>
        <p:nvSpPr>
          <p:cNvPr id="6" name="Text 4"/>
          <p:cNvSpPr/>
          <p:nvPr/>
        </p:nvSpPr>
        <p:spPr>
          <a:xfrm>
            <a:off x="1283970" y="2922270"/>
            <a:ext cx="8155686" cy="426720"/>
          </a:xfrm>
          <a:prstGeom prst="rect">
            <a:avLst/>
          </a:prstGeom>
          <a:noFill/>
          <a:ln/>
        </p:spPr>
        <p:txBody>
          <a:bodyPr wrap="square" lIns="25400" tIns="25400" rIns="25400" bIns="25400" rtlCol="0" anchor="t">
            <a:normAutofit/>
          </a:bodyPr>
          <a:lstStyle/>
          <a:p>
            <a:pPr algn="l" indent="0" marL="0">
              <a:buNone/>
            </a:pPr>
            <a:r>
              <a:rPr lang="en-US" sz="2700" b="1" dirty="0">
                <a:solidFill>
                  <a:srgbClr val="221F29"/>
                </a:solidFill>
                <a:latin typeface="Georgia" pitchFamily="34" charset="0"/>
                <a:ea typeface="Georgia" pitchFamily="34" charset="-122"/>
                <a:cs typeface="Georgia" pitchFamily="34" charset="-120"/>
              </a:rPr>
              <a:t>Grad-CAM</a:t>
            </a:r>
            <a:endParaRPr lang="en-US" sz="2700" dirty="0"/>
          </a:p>
        </p:txBody>
      </p:sp>
      <p:sp>
        <p:nvSpPr>
          <p:cNvPr id="7" name="Text 5"/>
          <p:cNvSpPr/>
          <p:nvPr/>
        </p:nvSpPr>
        <p:spPr>
          <a:xfrm>
            <a:off x="1283970" y="3425190"/>
            <a:ext cx="7636688" cy="731520"/>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56525B"/>
                </a:solidFill>
                <a:latin typeface="Arial" pitchFamily="34" charset="0"/>
                <a:ea typeface="Arial" pitchFamily="34" charset="-122"/>
                <a:cs typeface="Arial" pitchFamily="34" charset="-120"/>
              </a:rPr>
              <a:t>Gradijentna, lokalizaciona — glatka heatmapa važnih regija iz zadnjeg konvolucijskog sloja.</a:t>
            </a:r>
            <a:endParaRPr lang="en-US" sz="1950" dirty="0"/>
          </a:p>
        </p:txBody>
      </p:sp>
      <p:sp>
        <p:nvSpPr>
          <p:cNvPr id="8" name="Shape 6"/>
          <p:cNvSpPr/>
          <p:nvPr/>
        </p:nvSpPr>
        <p:spPr>
          <a:xfrm>
            <a:off x="952500" y="5654040"/>
            <a:ext cx="8077200" cy="2891790"/>
          </a:xfrm>
          <a:prstGeom prst="roundRect">
            <a:avLst>
              <a:gd name="adj" fmla="val 3953"/>
            </a:avLst>
          </a:prstGeom>
          <a:solidFill>
            <a:srgbClr val="FFFFFF"/>
          </a:solidFill>
          <a:ln w="7620">
            <a:solidFill>
              <a:srgbClr val="E7E2D7"/>
            </a:solidFill>
            <a:prstDash val="solid"/>
          </a:ln>
        </p:spPr>
      </p:sp>
      <p:sp>
        <p:nvSpPr>
          <p:cNvPr id="9" name="Text 7"/>
          <p:cNvSpPr/>
          <p:nvPr/>
        </p:nvSpPr>
        <p:spPr>
          <a:xfrm>
            <a:off x="1283970" y="5985510"/>
            <a:ext cx="8155686" cy="426720"/>
          </a:xfrm>
          <a:prstGeom prst="rect">
            <a:avLst/>
          </a:prstGeom>
          <a:noFill/>
          <a:ln/>
        </p:spPr>
        <p:txBody>
          <a:bodyPr wrap="square" lIns="25400" tIns="25400" rIns="25400" bIns="25400" rtlCol="0" anchor="t">
            <a:normAutofit/>
          </a:bodyPr>
          <a:lstStyle/>
          <a:p>
            <a:pPr algn="l" indent="0" marL="0">
              <a:buNone/>
            </a:pPr>
            <a:r>
              <a:rPr lang="en-US" sz="2700" b="1" dirty="0">
                <a:solidFill>
                  <a:srgbClr val="221F29"/>
                </a:solidFill>
                <a:latin typeface="Georgia" pitchFamily="34" charset="0"/>
                <a:ea typeface="Georgia" pitchFamily="34" charset="-122"/>
                <a:cs typeface="Georgia" pitchFamily="34" charset="-120"/>
              </a:rPr>
              <a:t>Integrated Gradients</a:t>
            </a:r>
            <a:endParaRPr lang="en-US" sz="2700" dirty="0"/>
          </a:p>
        </p:txBody>
      </p:sp>
      <p:sp>
        <p:nvSpPr>
          <p:cNvPr id="10" name="Text 8"/>
          <p:cNvSpPr/>
          <p:nvPr/>
        </p:nvSpPr>
        <p:spPr>
          <a:xfrm>
            <a:off x="1283970" y="6488430"/>
            <a:ext cx="7636688" cy="731520"/>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56525B"/>
                </a:solidFill>
                <a:latin typeface="Arial" pitchFamily="34" charset="0"/>
                <a:ea typeface="Arial" pitchFamily="34" charset="-122"/>
                <a:cs typeface="Arial" pitchFamily="34" charset="-120"/>
              </a:rPr>
              <a:t>Aksiomatska gradijentna — atribucija po pikselu, integral gradijenta duž putanje.</a:t>
            </a:r>
            <a:endParaRPr lang="en-US" sz="1950" dirty="0"/>
          </a:p>
        </p:txBody>
      </p:sp>
      <p:sp>
        <p:nvSpPr>
          <p:cNvPr id="11" name="Text 9"/>
          <p:cNvSpPr/>
          <p:nvPr/>
        </p:nvSpPr>
        <p:spPr>
          <a:xfrm>
            <a:off x="9258300" y="2122170"/>
            <a:ext cx="8884920" cy="33528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A3FB0"/>
                </a:solidFill>
                <a:latin typeface="Courier New" pitchFamily="34" charset="0"/>
                <a:ea typeface="Courier New" pitchFamily="34" charset="-122"/>
                <a:cs typeface="Courier New" pitchFamily="34" charset="-120"/>
              </a:rPr>
              <a:t>PERTURBACIJSKE · MIJENJAJU ULAZ, PRATE IZLAZ</a:t>
            </a:r>
            <a:endParaRPr lang="en-US" sz="1800" dirty="0"/>
          </a:p>
        </p:txBody>
      </p:sp>
      <p:sp>
        <p:nvSpPr>
          <p:cNvPr id="12" name="Shape 10"/>
          <p:cNvSpPr/>
          <p:nvPr/>
        </p:nvSpPr>
        <p:spPr>
          <a:xfrm>
            <a:off x="9258300" y="2590800"/>
            <a:ext cx="8077200" cy="2891790"/>
          </a:xfrm>
          <a:prstGeom prst="roundRect">
            <a:avLst>
              <a:gd name="adj" fmla="val 3953"/>
            </a:avLst>
          </a:prstGeom>
          <a:solidFill>
            <a:srgbClr val="FFFFFF"/>
          </a:solidFill>
          <a:ln w="7620">
            <a:solidFill>
              <a:srgbClr val="E7E2D7"/>
            </a:solidFill>
            <a:prstDash val="solid"/>
          </a:ln>
        </p:spPr>
      </p:sp>
      <p:sp>
        <p:nvSpPr>
          <p:cNvPr id="13" name="Text 11"/>
          <p:cNvSpPr/>
          <p:nvPr/>
        </p:nvSpPr>
        <p:spPr>
          <a:xfrm>
            <a:off x="9589770" y="2922270"/>
            <a:ext cx="8155686" cy="426720"/>
          </a:xfrm>
          <a:prstGeom prst="rect">
            <a:avLst/>
          </a:prstGeom>
          <a:noFill/>
          <a:ln/>
        </p:spPr>
        <p:txBody>
          <a:bodyPr wrap="square" lIns="25400" tIns="25400" rIns="25400" bIns="25400" rtlCol="0" anchor="t">
            <a:normAutofit/>
          </a:bodyPr>
          <a:lstStyle/>
          <a:p>
            <a:pPr algn="l" indent="0" marL="0">
              <a:buNone/>
            </a:pPr>
            <a:r>
              <a:rPr lang="en-US" sz="2700" b="1" dirty="0">
                <a:solidFill>
                  <a:srgbClr val="221F29"/>
                </a:solidFill>
                <a:latin typeface="Georgia" pitchFamily="34" charset="0"/>
                <a:ea typeface="Georgia" pitchFamily="34" charset="-122"/>
                <a:cs typeface="Georgia" pitchFamily="34" charset="-120"/>
              </a:rPr>
              <a:t>LIME</a:t>
            </a:r>
            <a:endParaRPr lang="en-US" sz="2700" dirty="0"/>
          </a:p>
        </p:txBody>
      </p:sp>
      <p:sp>
        <p:nvSpPr>
          <p:cNvPr id="14" name="Text 12"/>
          <p:cNvSpPr/>
          <p:nvPr/>
        </p:nvSpPr>
        <p:spPr>
          <a:xfrm>
            <a:off x="9589770" y="3425190"/>
            <a:ext cx="7636688" cy="731520"/>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56525B"/>
                </a:solidFill>
                <a:latin typeface="Arial" pitchFamily="34" charset="0"/>
                <a:ea typeface="Arial" pitchFamily="34" charset="-122"/>
                <a:cs typeface="Arial" pitchFamily="34" charset="-120"/>
              </a:rPr>
              <a:t>Lokalna aproksimacija jednostavnim linearnim modelom nad superpikselima.</a:t>
            </a:r>
            <a:endParaRPr lang="en-US" sz="1950" dirty="0"/>
          </a:p>
        </p:txBody>
      </p:sp>
      <p:sp>
        <p:nvSpPr>
          <p:cNvPr id="15" name="Shape 13"/>
          <p:cNvSpPr/>
          <p:nvPr/>
        </p:nvSpPr>
        <p:spPr>
          <a:xfrm>
            <a:off x="9258300" y="5654040"/>
            <a:ext cx="8077200" cy="2891790"/>
          </a:xfrm>
          <a:prstGeom prst="roundRect">
            <a:avLst>
              <a:gd name="adj" fmla="val 3953"/>
            </a:avLst>
          </a:prstGeom>
          <a:solidFill>
            <a:srgbClr val="FFFFFF"/>
          </a:solidFill>
          <a:ln w="7620">
            <a:solidFill>
              <a:srgbClr val="E7E2D7"/>
            </a:solidFill>
            <a:prstDash val="solid"/>
          </a:ln>
        </p:spPr>
      </p:sp>
      <p:sp>
        <p:nvSpPr>
          <p:cNvPr id="16" name="Text 14"/>
          <p:cNvSpPr/>
          <p:nvPr/>
        </p:nvSpPr>
        <p:spPr>
          <a:xfrm>
            <a:off x="9589770" y="5991225"/>
            <a:ext cx="987266" cy="426720"/>
          </a:xfrm>
          <a:prstGeom prst="rect">
            <a:avLst/>
          </a:prstGeom>
          <a:noFill/>
          <a:ln/>
        </p:spPr>
        <p:txBody>
          <a:bodyPr wrap="square" lIns="25400" tIns="25400" rIns="25400" bIns="25400" rtlCol="0" anchor="t">
            <a:normAutofit/>
          </a:bodyPr>
          <a:lstStyle/>
          <a:p>
            <a:pPr algn="l" indent="0" marL="0">
              <a:buNone/>
            </a:pPr>
            <a:r>
              <a:rPr lang="en-US" sz="2700" b="1" dirty="0">
                <a:solidFill>
                  <a:srgbClr val="221F29"/>
                </a:solidFill>
                <a:latin typeface="Georgia" pitchFamily="34" charset="0"/>
                <a:ea typeface="Georgia" pitchFamily="34" charset="-122"/>
                <a:cs typeface="Georgia" pitchFamily="34" charset="-120"/>
              </a:rPr>
              <a:t>SHAP</a:t>
            </a:r>
            <a:endParaRPr lang="en-US" sz="2700" dirty="0"/>
          </a:p>
        </p:txBody>
      </p:sp>
      <p:sp>
        <p:nvSpPr>
          <p:cNvPr id="17" name="Shape 15"/>
          <p:cNvSpPr/>
          <p:nvPr/>
        </p:nvSpPr>
        <p:spPr>
          <a:xfrm>
            <a:off x="10634187" y="5985510"/>
            <a:ext cx="1882140" cy="400050"/>
          </a:xfrm>
          <a:prstGeom prst="roundRect">
            <a:avLst>
              <a:gd name="adj" fmla="val 50000"/>
            </a:avLst>
          </a:prstGeom>
          <a:ln w="7620">
            <a:solidFill>
              <a:srgbClr val="D8D2C6"/>
            </a:solidFill>
            <a:prstDash val="solid"/>
          </a:ln>
        </p:spPr>
      </p:sp>
      <p:sp>
        <p:nvSpPr>
          <p:cNvPr id="18" name="Text 16"/>
          <p:cNvSpPr/>
          <p:nvPr/>
        </p:nvSpPr>
        <p:spPr>
          <a:xfrm>
            <a:off x="10775157" y="6059805"/>
            <a:ext cx="1676400" cy="289560"/>
          </a:xfrm>
          <a:prstGeom prst="rect">
            <a:avLst/>
          </a:prstGeom>
          <a:noFill/>
          <a:ln/>
        </p:spPr>
        <p:txBody>
          <a:bodyPr wrap="square" lIns="25400" tIns="25400" rIns="25400" bIns="25400" rtlCol="0" anchor="t">
            <a:normAutofit/>
          </a:bodyPr>
          <a:lstStyle/>
          <a:p>
            <a:pPr algn="l" indent="0" marL="0">
              <a:buNone/>
            </a:pPr>
            <a:r>
              <a:rPr lang="en-US" sz="1500" dirty="0">
                <a:solidFill>
                  <a:srgbClr val="8A857C"/>
                </a:solidFill>
                <a:latin typeface="Courier New" pitchFamily="34" charset="0"/>
                <a:ea typeface="Courier New" pitchFamily="34" charset="-122"/>
                <a:cs typeface="Courier New" pitchFamily="34" charset="-120"/>
              </a:rPr>
              <a:t>samo teorijski</a:t>
            </a:r>
            <a:endParaRPr lang="en-US" sz="1500" dirty="0"/>
          </a:p>
        </p:txBody>
      </p:sp>
      <p:sp>
        <p:nvSpPr>
          <p:cNvPr id="19" name="Text 17"/>
          <p:cNvSpPr/>
          <p:nvPr/>
        </p:nvSpPr>
        <p:spPr>
          <a:xfrm>
            <a:off x="9589770" y="6499860"/>
            <a:ext cx="7636688" cy="731520"/>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56525B"/>
                </a:solidFill>
                <a:latin typeface="Arial" pitchFamily="34" charset="0"/>
                <a:ea typeface="Arial" pitchFamily="34" charset="-122"/>
                <a:cs typeface="Arial" pitchFamily="34" charset="-120"/>
              </a:rPr>
              <a:t>Shapley vrijednosti iz teorije igara — pravedan udio svakog piksela u predikciji.</a:t>
            </a:r>
            <a:endParaRPr lang="en-US" sz="1950" dirty="0"/>
          </a:p>
        </p:txBody>
      </p:sp>
      <p:sp>
        <p:nvSpPr>
          <p:cNvPr id="20" name="Shape 18"/>
          <p:cNvSpPr/>
          <p:nvPr/>
        </p:nvSpPr>
        <p:spPr>
          <a:xfrm>
            <a:off x="952500" y="8869680"/>
            <a:ext cx="16383000" cy="655320"/>
          </a:xfrm>
          <a:prstGeom prst="roundRect">
            <a:avLst>
              <a:gd name="adj" fmla="val 14535"/>
            </a:avLst>
          </a:prstGeom>
          <a:solidFill>
            <a:srgbClr val="FFFFFF"/>
          </a:solidFill>
          <a:ln w="7620">
            <a:solidFill>
              <a:srgbClr val="E7E2D7"/>
            </a:solidFill>
            <a:prstDash val="solid"/>
          </a:ln>
        </p:spPr>
      </p:sp>
      <p:sp>
        <p:nvSpPr>
          <p:cNvPr id="21" name="Text 19"/>
          <p:cNvSpPr/>
          <p:nvPr/>
        </p:nvSpPr>
        <p:spPr>
          <a:xfrm>
            <a:off x="1207770" y="9048750"/>
            <a:ext cx="16363950" cy="335280"/>
          </a:xfrm>
          <a:prstGeom prst="rect">
            <a:avLst/>
          </a:prstGeom>
          <a:noFill/>
          <a:ln/>
        </p:spPr>
        <p:txBody>
          <a:bodyPr wrap="square" lIns="25400" tIns="25400" rIns="25400" bIns="25400" rtlCol="0" anchor="t">
            <a:normAutofit/>
          </a:bodyPr>
          <a:lstStyle/>
          <a:p>
            <a:pPr algn="l" indent="0" marL="0">
              <a:buNone/>
            </a:pPr>
            <a:r>
              <a:rPr lang="en-US" sz="1800" dirty="0">
                <a:solidFill>
                  <a:srgbClr val="6F6B63"/>
                </a:solidFill>
                <a:highlight>
                  <a:srgbClr val="FFFFFF"/>
                </a:highlight>
                <a:latin typeface="Courier New" pitchFamily="34" charset="0"/>
                <a:ea typeface="Courier New" pitchFamily="34" charset="-122"/>
                <a:cs typeface="Courier New" pitchFamily="34" charset="-120"/>
              </a:rPr>
              <a:t>Sve četiri metode su </a:t>
            </a:r>
            <a:pPr algn="l" indent="0" marL="0">
              <a:buNone/>
            </a:pPr>
            <a:r>
              <a:rPr lang="en-US" sz="1800" dirty="0">
                <a:solidFill>
                  <a:srgbClr val="5A2FA0"/>
                </a:solidFill>
                <a:latin typeface="Courier New" pitchFamily="34" charset="0"/>
                <a:ea typeface="Courier New" pitchFamily="34" charset="-122"/>
                <a:cs typeface="Courier New" pitchFamily="34" charset="-120"/>
              </a:rPr>
              <a:t>lokalne </a:t>
            </a:r>
            <a:pPr algn="l" indent="0" marL="0">
              <a:buNone/>
            </a:pPr>
            <a:r>
              <a:rPr lang="en-US" sz="1800" dirty="0">
                <a:solidFill>
                  <a:srgbClr val="6F6B63"/>
                </a:solidFill>
                <a:highlight>
                  <a:srgbClr val="FFFFFF"/>
                </a:highlight>
                <a:latin typeface="Courier New" pitchFamily="34" charset="0"/>
                <a:ea typeface="Courier New" pitchFamily="34" charset="-122"/>
                <a:cs typeface="Courier New" pitchFamily="34" charset="-120"/>
              </a:rPr>
              <a:t>— objašnjavaju pojedinačnu predikciju, ne globalno ponašanje modela na cijelom skupu.</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952500" y="742950"/>
            <a:ext cx="18021300" cy="33528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A3FB0"/>
                </a:solidFill>
                <a:latin typeface="Courier New" pitchFamily="34" charset="0"/>
                <a:ea typeface="Courier New" pitchFamily="34" charset="-122"/>
                <a:cs typeface="Courier New" pitchFamily="34" charset="-120"/>
              </a:rPr>
              <a:t>04A · GRADIJENTNA METODA</a:t>
            </a:r>
            <a:endParaRPr lang="en-US" sz="1800" dirty="0"/>
          </a:p>
        </p:txBody>
      </p:sp>
      <p:sp>
        <p:nvSpPr>
          <p:cNvPr id="3" name="Text 1"/>
          <p:cNvSpPr/>
          <p:nvPr/>
        </p:nvSpPr>
        <p:spPr>
          <a:xfrm>
            <a:off x="952500" y="1154430"/>
            <a:ext cx="18021300" cy="598170"/>
          </a:xfrm>
          <a:prstGeom prst="rect">
            <a:avLst/>
          </a:prstGeom>
          <a:noFill/>
          <a:ln/>
        </p:spPr>
        <p:txBody>
          <a:bodyPr wrap="square" lIns="25400" tIns="25400" rIns="25400" bIns="25400" rtlCol="0" anchor="t">
            <a:normAutofit/>
          </a:bodyPr>
          <a:lstStyle/>
          <a:p>
            <a:pPr algn="l" indent="0" marL="0">
              <a:lnSpc>
                <a:spcPct val="105000"/>
              </a:lnSpc>
              <a:buNone/>
            </a:pPr>
            <a:r>
              <a:rPr lang="en-US" sz="4200" b="1" spc="-42" kern="0" dirty="0">
                <a:solidFill>
                  <a:srgbClr val="221F29"/>
                </a:solidFill>
                <a:latin typeface="Georgia" pitchFamily="34" charset="0"/>
                <a:ea typeface="Georgia" pitchFamily="34" charset="-122"/>
                <a:cs typeface="Georgia" pitchFamily="34" charset="-120"/>
              </a:rPr>
              <a:t>Grad-CAM — gdje je model „gledao”</a:t>
            </a:r>
            <a:endParaRPr lang="en-US" sz="4200" dirty="0"/>
          </a:p>
        </p:txBody>
      </p:sp>
      <p:sp>
        <p:nvSpPr>
          <p:cNvPr id="4" name="Text 2"/>
          <p:cNvSpPr/>
          <p:nvPr/>
        </p:nvSpPr>
        <p:spPr>
          <a:xfrm>
            <a:off x="952500" y="2000250"/>
            <a:ext cx="9812712" cy="1229916"/>
          </a:xfrm>
          <a:prstGeom prst="rect">
            <a:avLst/>
          </a:prstGeom>
          <a:noFill/>
          <a:ln/>
        </p:spPr>
        <p:txBody>
          <a:bodyPr wrap="square" lIns="25400" tIns="25400" rIns="25400" bIns="25400" rtlCol="0" anchor="t">
            <a:normAutofit/>
          </a:bodyPr>
          <a:lstStyle/>
          <a:p>
            <a:pPr algn="l" indent="0" marL="0">
              <a:lnSpc>
                <a:spcPct val="142000"/>
              </a:lnSpc>
              <a:buNone/>
            </a:pPr>
            <a:r>
              <a:rPr lang="en-US" sz="2175" b="1" dirty="0">
                <a:solidFill>
                  <a:srgbClr val="5A2FA0"/>
                </a:solidFill>
                <a:latin typeface="Georgia" pitchFamily="34" charset="0"/>
                <a:ea typeface="Georgia" pitchFamily="34" charset="-122"/>
                <a:cs typeface="Georgia" pitchFamily="34" charset="-120"/>
              </a:rPr>
              <a:t>U suštini: </a:t>
            </a:r>
            <a:pPr algn="l" indent="0" marL="0">
              <a:lnSpc>
                <a:spcPct val="142000"/>
              </a:lnSpc>
              <a:buNone/>
            </a:pPr>
            <a:r>
              <a:rPr lang="en-US" sz="2175" dirty="0">
                <a:solidFill>
                  <a:srgbClr val="45424B"/>
                </a:solidFill>
                <a:latin typeface="Arial" pitchFamily="34" charset="0"/>
                <a:ea typeface="Arial" pitchFamily="34" charset="-122"/>
                <a:cs typeface="Arial" pitchFamily="34" charset="-120"/>
              </a:rPr>
              <a:t>Grad-CAM oboji sliku tamo gdje je model „gledao". Tople boje su dijelovi koji su najviše uticali na odluku, hladne oni nebitni — a mapa se crta iz </a:t>
            </a:r>
            <a:pPr algn="l" indent="0" marL="0">
              <a:lnSpc>
                <a:spcPct val="142000"/>
              </a:lnSpc>
              <a:buNone/>
            </a:pPr>
            <a:r>
              <a:rPr lang="en-US" sz="2175" b="1" dirty="0">
                <a:solidFill>
                  <a:srgbClr val="221F29"/>
                </a:solidFill>
                <a:latin typeface="Arial" pitchFamily="34" charset="0"/>
                <a:ea typeface="Arial" pitchFamily="34" charset="-122"/>
                <a:cs typeface="Arial" pitchFamily="34" charset="-120"/>
              </a:rPr>
              <a:t>zadnjeg sloja</a:t>
            </a:r>
            <a:pPr algn="l" indent="0" marL="0">
              <a:lnSpc>
                <a:spcPct val="142000"/>
              </a:lnSpc>
              <a:buNone/>
            </a:pPr>
            <a:r>
              <a:rPr lang="en-US" sz="2175" dirty="0">
                <a:solidFill>
                  <a:srgbClr val="45424B"/>
                </a:solidFill>
                <a:latin typeface="Arial" pitchFamily="34" charset="0"/>
                <a:ea typeface="Arial" pitchFamily="34" charset="-122"/>
                <a:cs typeface="Arial" pitchFamily="34" charset="-120"/>
              </a:rPr>
              <a:t>, jedinog koji još pamti gdje je šta na slici.</a:t>
            </a:r>
            <a:endParaRPr lang="en-US" sz="2175" dirty="0"/>
          </a:p>
        </p:txBody>
      </p:sp>
      <p:sp>
        <p:nvSpPr>
          <p:cNvPr id="5" name="Shape 3"/>
          <p:cNvSpPr/>
          <p:nvPr/>
        </p:nvSpPr>
        <p:spPr>
          <a:xfrm>
            <a:off x="952500" y="3382566"/>
            <a:ext cx="3086695" cy="1790700"/>
          </a:xfrm>
          <a:prstGeom prst="roundRect">
            <a:avLst>
              <a:gd name="adj" fmla="val 6383"/>
            </a:avLst>
          </a:prstGeom>
          <a:solidFill>
            <a:srgbClr val="FFFFFF"/>
          </a:solidFill>
          <a:ln w="7620">
            <a:solidFill>
              <a:srgbClr val="E7E2D7"/>
            </a:solidFill>
            <a:prstDash val="solid"/>
          </a:ln>
        </p:spPr>
      </p:sp>
      <p:sp>
        <p:nvSpPr>
          <p:cNvPr id="6" name="Text 4"/>
          <p:cNvSpPr/>
          <p:nvPr/>
        </p:nvSpPr>
        <p:spPr>
          <a:xfrm>
            <a:off x="1188720" y="3618786"/>
            <a:ext cx="2875681" cy="335280"/>
          </a:xfrm>
          <a:prstGeom prst="rect">
            <a:avLst/>
          </a:prstGeom>
          <a:noFill/>
          <a:ln/>
        </p:spPr>
        <p:txBody>
          <a:bodyPr wrap="square" lIns="25400" tIns="25400" rIns="25400" bIns="25400" rtlCol="0" anchor="t">
            <a:normAutofit/>
          </a:bodyPr>
          <a:lstStyle/>
          <a:p>
            <a:pPr algn="l" indent="0" marL="0">
              <a:buNone/>
            </a:pPr>
            <a:r>
              <a:rPr lang="en-US" sz="1800" dirty="0">
                <a:solidFill>
                  <a:srgbClr val="6A3FB0"/>
                </a:solidFill>
                <a:latin typeface="Courier New" pitchFamily="34" charset="0"/>
                <a:ea typeface="Courier New" pitchFamily="34" charset="-122"/>
                <a:cs typeface="Courier New" pitchFamily="34" charset="-120"/>
              </a:rPr>
              <a:t>01</a:t>
            </a:r>
            <a:endParaRPr lang="en-US" sz="1800" dirty="0"/>
          </a:p>
        </p:txBody>
      </p:sp>
      <p:sp>
        <p:nvSpPr>
          <p:cNvPr id="7" name="Text 5"/>
          <p:cNvSpPr/>
          <p:nvPr/>
        </p:nvSpPr>
        <p:spPr>
          <a:xfrm>
            <a:off x="1188720" y="4011216"/>
            <a:ext cx="2692683" cy="963930"/>
          </a:xfrm>
          <a:prstGeom prst="rect">
            <a:avLst/>
          </a:prstGeom>
          <a:noFill/>
          <a:ln/>
        </p:spPr>
        <p:txBody>
          <a:bodyPr wrap="square" lIns="25400" tIns="25400" rIns="25400" bIns="25400" rtlCol="0" anchor="t">
            <a:normAutofit/>
          </a:bodyPr>
          <a:lstStyle/>
          <a:p>
            <a:pPr algn="l" indent="0" marL="0">
              <a:lnSpc>
                <a:spcPct val="135000"/>
              </a:lnSpc>
              <a:buNone/>
            </a:pPr>
            <a:r>
              <a:rPr lang="en-US" sz="1800" dirty="0">
                <a:solidFill>
                  <a:srgbClr val="45424B"/>
                </a:solidFill>
                <a:latin typeface="Arial" pitchFamily="34" charset="0"/>
                <a:ea typeface="Arial" pitchFamily="34" charset="-122"/>
                <a:cs typeface="Arial" pitchFamily="34" charset="-120"/>
              </a:rPr>
              <a:t>Provuče sliku kroz mrežu i zapamti aktivacije zadnjeg sloja</a:t>
            </a:r>
            <a:endParaRPr lang="en-US" sz="1800" dirty="0"/>
          </a:p>
        </p:txBody>
      </p:sp>
      <p:sp>
        <p:nvSpPr>
          <p:cNvPr id="8" name="Shape 6"/>
          <p:cNvSpPr/>
          <p:nvPr/>
        </p:nvSpPr>
        <p:spPr>
          <a:xfrm>
            <a:off x="4172545" y="3382566"/>
            <a:ext cx="3086814" cy="1790700"/>
          </a:xfrm>
          <a:prstGeom prst="roundRect">
            <a:avLst>
              <a:gd name="adj" fmla="val 6383"/>
            </a:avLst>
          </a:prstGeom>
          <a:solidFill>
            <a:srgbClr val="FFFFFF"/>
          </a:solidFill>
          <a:ln w="7620">
            <a:solidFill>
              <a:srgbClr val="E7E2D7"/>
            </a:solidFill>
            <a:prstDash val="solid"/>
          </a:ln>
        </p:spPr>
      </p:sp>
      <p:sp>
        <p:nvSpPr>
          <p:cNvPr id="9" name="Text 7"/>
          <p:cNvSpPr/>
          <p:nvPr/>
        </p:nvSpPr>
        <p:spPr>
          <a:xfrm>
            <a:off x="4408765" y="3618786"/>
            <a:ext cx="2875812" cy="335280"/>
          </a:xfrm>
          <a:prstGeom prst="rect">
            <a:avLst/>
          </a:prstGeom>
          <a:noFill/>
          <a:ln/>
        </p:spPr>
        <p:txBody>
          <a:bodyPr wrap="square" lIns="25400" tIns="25400" rIns="25400" bIns="25400" rtlCol="0" anchor="t">
            <a:normAutofit/>
          </a:bodyPr>
          <a:lstStyle/>
          <a:p>
            <a:pPr algn="l" indent="0" marL="0">
              <a:buNone/>
            </a:pPr>
            <a:r>
              <a:rPr lang="en-US" sz="1800" dirty="0">
                <a:solidFill>
                  <a:srgbClr val="6A3FB0"/>
                </a:solidFill>
                <a:latin typeface="Courier New" pitchFamily="34" charset="0"/>
                <a:ea typeface="Courier New" pitchFamily="34" charset="-122"/>
                <a:cs typeface="Courier New" pitchFamily="34" charset="-120"/>
              </a:rPr>
              <a:t>02</a:t>
            </a:r>
            <a:endParaRPr lang="en-US" sz="1800" dirty="0"/>
          </a:p>
        </p:txBody>
      </p:sp>
      <p:sp>
        <p:nvSpPr>
          <p:cNvPr id="10" name="Text 8"/>
          <p:cNvSpPr/>
          <p:nvPr/>
        </p:nvSpPr>
        <p:spPr>
          <a:xfrm>
            <a:off x="4408765" y="4011216"/>
            <a:ext cx="2692806" cy="963930"/>
          </a:xfrm>
          <a:prstGeom prst="rect">
            <a:avLst/>
          </a:prstGeom>
          <a:noFill/>
          <a:ln/>
        </p:spPr>
        <p:txBody>
          <a:bodyPr wrap="square" lIns="25400" tIns="25400" rIns="25400" bIns="25400" rtlCol="0" anchor="t">
            <a:normAutofit/>
          </a:bodyPr>
          <a:lstStyle/>
          <a:p>
            <a:pPr algn="l" indent="0" marL="0">
              <a:lnSpc>
                <a:spcPct val="135000"/>
              </a:lnSpc>
              <a:buNone/>
            </a:pPr>
            <a:r>
              <a:rPr lang="en-US" sz="1800" dirty="0">
                <a:solidFill>
                  <a:srgbClr val="45424B"/>
                </a:solidFill>
                <a:latin typeface="Arial" pitchFamily="34" charset="0"/>
                <a:ea typeface="Arial" pitchFamily="34" charset="-122"/>
                <a:cs typeface="Arial" pitchFamily="34" charset="-120"/>
              </a:rPr>
              <a:t>Izračuna koliko svaki filter doprinosi baš toj klasi</a:t>
            </a:r>
            <a:endParaRPr lang="en-US" sz="1800" dirty="0"/>
          </a:p>
        </p:txBody>
      </p:sp>
      <p:sp>
        <p:nvSpPr>
          <p:cNvPr id="11" name="Shape 9"/>
          <p:cNvSpPr/>
          <p:nvPr/>
        </p:nvSpPr>
        <p:spPr>
          <a:xfrm>
            <a:off x="7392710" y="3382566"/>
            <a:ext cx="3086695" cy="1790700"/>
          </a:xfrm>
          <a:prstGeom prst="roundRect">
            <a:avLst>
              <a:gd name="adj" fmla="val 6383"/>
            </a:avLst>
          </a:prstGeom>
          <a:solidFill>
            <a:srgbClr val="FFFFFF"/>
          </a:solidFill>
          <a:ln w="7620">
            <a:solidFill>
              <a:srgbClr val="E7E2D7"/>
            </a:solidFill>
            <a:prstDash val="solid"/>
          </a:ln>
        </p:spPr>
      </p:sp>
      <p:sp>
        <p:nvSpPr>
          <p:cNvPr id="12" name="Text 10"/>
          <p:cNvSpPr/>
          <p:nvPr/>
        </p:nvSpPr>
        <p:spPr>
          <a:xfrm>
            <a:off x="7628930" y="3618786"/>
            <a:ext cx="2875681" cy="335280"/>
          </a:xfrm>
          <a:prstGeom prst="rect">
            <a:avLst/>
          </a:prstGeom>
          <a:noFill/>
          <a:ln/>
        </p:spPr>
        <p:txBody>
          <a:bodyPr wrap="square" lIns="25400" tIns="25400" rIns="25400" bIns="25400" rtlCol="0" anchor="t">
            <a:normAutofit/>
          </a:bodyPr>
          <a:lstStyle/>
          <a:p>
            <a:pPr algn="l" indent="0" marL="0">
              <a:buNone/>
            </a:pPr>
            <a:r>
              <a:rPr lang="en-US" sz="1800" dirty="0">
                <a:solidFill>
                  <a:srgbClr val="6A3FB0"/>
                </a:solidFill>
                <a:latin typeface="Courier New" pitchFamily="34" charset="0"/>
                <a:ea typeface="Courier New" pitchFamily="34" charset="-122"/>
                <a:cs typeface="Courier New" pitchFamily="34" charset="-120"/>
              </a:rPr>
              <a:t>03</a:t>
            </a:r>
            <a:endParaRPr lang="en-US" sz="1800" dirty="0"/>
          </a:p>
        </p:txBody>
      </p:sp>
      <p:sp>
        <p:nvSpPr>
          <p:cNvPr id="13" name="Text 11"/>
          <p:cNvSpPr/>
          <p:nvPr/>
        </p:nvSpPr>
        <p:spPr>
          <a:xfrm>
            <a:off x="7628930" y="4011216"/>
            <a:ext cx="2692683" cy="963930"/>
          </a:xfrm>
          <a:prstGeom prst="rect">
            <a:avLst/>
          </a:prstGeom>
          <a:noFill/>
          <a:ln/>
        </p:spPr>
        <p:txBody>
          <a:bodyPr wrap="square" lIns="25400" tIns="25400" rIns="25400" bIns="25400" rtlCol="0" anchor="t">
            <a:normAutofit/>
          </a:bodyPr>
          <a:lstStyle/>
          <a:p>
            <a:pPr algn="l" indent="0" marL="0">
              <a:lnSpc>
                <a:spcPct val="135000"/>
              </a:lnSpc>
              <a:buNone/>
            </a:pPr>
            <a:r>
              <a:rPr lang="en-US" sz="1800" dirty="0">
                <a:solidFill>
                  <a:srgbClr val="45424B"/>
                </a:solidFill>
                <a:latin typeface="Arial" pitchFamily="34" charset="0"/>
                <a:ea typeface="Arial" pitchFamily="34" charset="-122"/>
                <a:cs typeface="Arial" pitchFamily="34" charset="-120"/>
              </a:rPr>
              <a:t>Pomiješa mape po važnosti + ReLU → topla mapa</a:t>
            </a:r>
            <a:endParaRPr lang="en-US" sz="1800" dirty="0"/>
          </a:p>
        </p:txBody>
      </p:sp>
      <p:sp>
        <p:nvSpPr>
          <p:cNvPr id="14" name="Shape 12"/>
          <p:cNvSpPr/>
          <p:nvPr/>
        </p:nvSpPr>
        <p:spPr>
          <a:xfrm>
            <a:off x="952500" y="5363766"/>
            <a:ext cx="9526905" cy="1684020"/>
          </a:xfrm>
          <a:prstGeom prst="roundRect">
            <a:avLst>
              <a:gd name="adj" fmla="val 6787"/>
            </a:avLst>
          </a:prstGeom>
          <a:solidFill>
            <a:srgbClr val="221F29"/>
          </a:solidFill>
          <a:ln/>
        </p:spPr>
      </p:sp>
      <p:sp>
        <p:nvSpPr>
          <p:cNvPr id="15" name="Text 13"/>
          <p:cNvSpPr/>
          <p:nvPr/>
        </p:nvSpPr>
        <p:spPr>
          <a:xfrm>
            <a:off x="1238250" y="5611416"/>
            <a:ext cx="9850946" cy="350520"/>
          </a:xfrm>
          <a:prstGeom prst="rect">
            <a:avLst/>
          </a:prstGeom>
          <a:noFill/>
          <a:ln/>
        </p:spPr>
        <p:txBody>
          <a:bodyPr wrap="square" lIns="25400" tIns="25400" rIns="25400" bIns="25400" rtlCol="0" anchor="t">
            <a:normAutofit/>
          </a:bodyPr>
          <a:lstStyle/>
          <a:p>
            <a:pPr algn="l" indent="0" marL="0">
              <a:buNone/>
            </a:pPr>
            <a:r>
              <a:rPr lang="en-US" sz="1875" dirty="0">
                <a:solidFill>
                  <a:srgbClr val="B79AEC"/>
                </a:solidFill>
                <a:latin typeface="Courier New" pitchFamily="34" charset="0"/>
                <a:ea typeface="Courier New" pitchFamily="34" charset="-122"/>
                <a:cs typeface="Courier New" pitchFamily="34" charset="-120"/>
              </a:rPr>
              <a:t>αₖᶜ </a:t>
            </a:r>
            <a:pPr algn="l" indent="0" marL="0">
              <a:buNone/>
            </a:pPr>
            <a:r>
              <a:rPr lang="en-US" sz="1875" dirty="0">
                <a:solidFill>
                  <a:srgbClr val="E9E4F3"/>
                </a:solidFill>
                <a:latin typeface="Courier New" pitchFamily="34" charset="0"/>
                <a:ea typeface="Courier New" pitchFamily="34" charset="-122"/>
                <a:cs typeface="Courier New" pitchFamily="34" charset="-120"/>
              </a:rPr>
              <a:t>= (1/Z) · Σᵢ Σⱼ ∂yᶜ / ∂Aᵢⱼᵏ</a:t>
            </a:r>
            <a:endParaRPr lang="en-US" sz="1875" dirty="0"/>
          </a:p>
        </p:txBody>
      </p:sp>
      <p:sp>
        <p:nvSpPr>
          <p:cNvPr id="16" name="Text 14"/>
          <p:cNvSpPr/>
          <p:nvPr/>
        </p:nvSpPr>
        <p:spPr>
          <a:xfrm>
            <a:off x="1238250" y="6057186"/>
            <a:ext cx="9850946" cy="350520"/>
          </a:xfrm>
          <a:prstGeom prst="rect">
            <a:avLst/>
          </a:prstGeom>
          <a:noFill/>
          <a:ln/>
        </p:spPr>
        <p:txBody>
          <a:bodyPr wrap="square" lIns="25400" tIns="25400" rIns="25400" bIns="25400" rtlCol="0" anchor="t">
            <a:normAutofit/>
          </a:bodyPr>
          <a:lstStyle/>
          <a:p>
            <a:pPr algn="l" indent="0" marL="0">
              <a:buNone/>
            </a:pPr>
            <a:r>
              <a:rPr lang="en-US" sz="1875" dirty="0">
                <a:solidFill>
                  <a:srgbClr val="B79AEC"/>
                </a:solidFill>
                <a:latin typeface="Courier New" pitchFamily="34" charset="0"/>
                <a:ea typeface="Courier New" pitchFamily="34" charset="-122"/>
                <a:cs typeface="Courier New" pitchFamily="34" charset="-120"/>
              </a:rPr>
              <a:t>L </a:t>
            </a:r>
            <a:pPr algn="l" indent="0" marL="0">
              <a:buNone/>
            </a:pPr>
            <a:r>
              <a:rPr lang="en-US" sz="1875" dirty="0">
                <a:solidFill>
                  <a:srgbClr val="E9E4F3"/>
                </a:solidFill>
                <a:latin typeface="Courier New" pitchFamily="34" charset="0"/>
                <a:ea typeface="Courier New" pitchFamily="34" charset="-122"/>
                <a:cs typeface="Courier New" pitchFamily="34" charset="-120"/>
              </a:rPr>
              <a:t>= ReLU( Σₖ αₖᶜ · Aₖ )</a:t>
            </a:r>
            <a:endParaRPr lang="en-US" sz="1875" dirty="0"/>
          </a:p>
        </p:txBody>
      </p:sp>
      <p:sp>
        <p:nvSpPr>
          <p:cNvPr id="17" name="Text 15"/>
          <p:cNvSpPr/>
          <p:nvPr/>
        </p:nvSpPr>
        <p:spPr>
          <a:xfrm>
            <a:off x="1238250" y="6502956"/>
            <a:ext cx="9850946" cy="335280"/>
          </a:xfrm>
          <a:prstGeom prst="rect">
            <a:avLst/>
          </a:prstGeom>
          <a:noFill/>
          <a:ln/>
        </p:spPr>
        <p:txBody>
          <a:bodyPr wrap="square" lIns="25400" tIns="25400" rIns="25400" bIns="25400" rtlCol="0" anchor="t">
            <a:normAutofit/>
          </a:bodyPr>
          <a:lstStyle/>
          <a:p>
            <a:pPr algn="l" indent="0" marL="0">
              <a:buNone/>
            </a:pPr>
            <a:r>
              <a:rPr lang="en-US" sz="1800" dirty="0">
                <a:solidFill>
                  <a:srgbClr val="9A8FC4"/>
                </a:solidFill>
                <a:latin typeface="Courier New" pitchFamily="34" charset="0"/>
                <a:ea typeface="Courier New" pitchFamily="34" charset="-122"/>
                <a:cs typeface="Courier New" pitchFamily="34" charset="-120"/>
              </a:rPr>
              <a:t>čita se: težina svakog filtera, pa težinski zbir mapa.</a:t>
            </a:r>
            <a:endParaRPr lang="en-US" sz="1800" dirty="0"/>
          </a:p>
        </p:txBody>
      </p:sp>
      <p:sp>
        <p:nvSpPr>
          <p:cNvPr id="18" name="Shape 16"/>
          <p:cNvSpPr/>
          <p:nvPr/>
        </p:nvSpPr>
        <p:spPr>
          <a:xfrm>
            <a:off x="10765156" y="2000250"/>
            <a:ext cx="6570345" cy="3310890"/>
          </a:xfrm>
          <a:prstGeom prst="roundRect">
            <a:avLst>
              <a:gd name="adj" fmla="val 3452"/>
            </a:avLst>
          </a:prstGeom>
          <a:solidFill>
            <a:srgbClr val="EEF6F0"/>
          </a:solidFill>
          <a:ln w="7620">
            <a:solidFill>
              <a:srgbClr val="CFE6D6"/>
            </a:solidFill>
            <a:prstDash val="solid"/>
          </a:ln>
        </p:spPr>
      </p:sp>
      <p:sp>
        <p:nvSpPr>
          <p:cNvPr id="19" name="Text 17"/>
          <p:cNvSpPr/>
          <p:nvPr/>
        </p:nvSpPr>
        <p:spPr>
          <a:xfrm>
            <a:off x="11096625" y="2293620"/>
            <a:ext cx="6498146" cy="33528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3F7D54"/>
                </a:solidFill>
                <a:latin typeface="Courier New" pitchFamily="34" charset="0"/>
                <a:ea typeface="Courier New" pitchFamily="34" charset="-122"/>
                <a:cs typeface="Courier New" pitchFamily="34" charset="-120"/>
              </a:rPr>
              <a:t>PREDNOST</a:t>
            </a:r>
            <a:endParaRPr lang="en-US" sz="1800" dirty="0"/>
          </a:p>
        </p:txBody>
      </p:sp>
      <p:sp>
        <p:nvSpPr>
          <p:cNvPr id="20" name="Text 18"/>
          <p:cNvSpPr/>
          <p:nvPr/>
        </p:nvSpPr>
        <p:spPr>
          <a:xfrm>
            <a:off x="11096625" y="2724150"/>
            <a:ext cx="6084627" cy="1078230"/>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2C4A37"/>
                </a:solidFill>
                <a:latin typeface="Arial" pitchFamily="34" charset="0"/>
                <a:ea typeface="Arial" pitchFamily="34" charset="-122"/>
                <a:cs typeface="Arial" pitchFamily="34" charset="-120"/>
              </a:rPr>
              <a:t>Niska računska složenost; intuitivna i pregledna — lako se uoči šire područje koje je najviše uticalo na odluku.</a:t>
            </a:r>
            <a:endParaRPr lang="en-US" sz="1950" dirty="0"/>
          </a:p>
        </p:txBody>
      </p:sp>
      <p:sp>
        <p:nvSpPr>
          <p:cNvPr id="21" name="Shape 19"/>
          <p:cNvSpPr/>
          <p:nvPr/>
        </p:nvSpPr>
        <p:spPr>
          <a:xfrm>
            <a:off x="10765156" y="5463540"/>
            <a:ext cx="6570345" cy="3310890"/>
          </a:xfrm>
          <a:prstGeom prst="roundRect">
            <a:avLst>
              <a:gd name="adj" fmla="val 3452"/>
            </a:avLst>
          </a:prstGeom>
          <a:solidFill>
            <a:srgbClr val="F9EFE9"/>
          </a:solidFill>
          <a:ln w="7620">
            <a:solidFill>
              <a:srgbClr val="ECD4C8"/>
            </a:solidFill>
            <a:prstDash val="solid"/>
          </a:ln>
        </p:spPr>
      </p:sp>
      <p:sp>
        <p:nvSpPr>
          <p:cNvPr id="22" name="Text 20"/>
          <p:cNvSpPr/>
          <p:nvPr/>
        </p:nvSpPr>
        <p:spPr>
          <a:xfrm>
            <a:off x="11096625" y="5756910"/>
            <a:ext cx="6498146" cy="33528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A85A3C"/>
                </a:solidFill>
                <a:latin typeface="Courier New" pitchFamily="34" charset="0"/>
                <a:ea typeface="Courier New" pitchFamily="34" charset="-122"/>
                <a:cs typeface="Courier New" pitchFamily="34" charset="-120"/>
              </a:rPr>
              <a:t>MANA</a:t>
            </a:r>
            <a:endParaRPr lang="en-US" sz="1800" dirty="0"/>
          </a:p>
        </p:txBody>
      </p:sp>
      <p:sp>
        <p:nvSpPr>
          <p:cNvPr id="23" name="Text 21"/>
          <p:cNvSpPr/>
          <p:nvPr/>
        </p:nvSpPr>
        <p:spPr>
          <a:xfrm>
            <a:off x="11096625" y="6187440"/>
            <a:ext cx="6084627" cy="731520"/>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7A4730"/>
                </a:solidFill>
                <a:latin typeface="Arial" pitchFamily="34" charset="0"/>
                <a:ea typeface="Arial" pitchFamily="34" charset="-122"/>
                <a:cs typeface="Arial" pitchFamily="34" charset="-120"/>
              </a:rPr>
              <a:t>Mapa nastaje iz aktivacija male prostorne rezolucije → gruba lokalizacija, ne razlikuje fine susjedne regije.</a:t>
            </a:r>
            <a:endParaRPr lang="en-US" sz="1950" dirty="0"/>
          </a:p>
        </p:txBody>
      </p:sp>
      <p:sp>
        <p:nvSpPr>
          <p:cNvPr id="24" name="Shape 22"/>
          <p:cNvSpPr/>
          <p:nvPr/>
        </p:nvSpPr>
        <p:spPr>
          <a:xfrm>
            <a:off x="10765156" y="8926830"/>
            <a:ext cx="6570345" cy="617220"/>
          </a:xfrm>
          <a:prstGeom prst="roundRect">
            <a:avLst>
              <a:gd name="adj" fmla="val 15432"/>
            </a:avLst>
          </a:prstGeom>
          <a:solidFill>
            <a:srgbClr val="FFFFFF"/>
          </a:solidFill>
          <a:ln w="7620">
            <a:solidFill>
              <a:srgbClr val="E7E2D7"/>
            </a:solidFill>
            <a:prstDash val="solid"/>
          </a:ln>
        </p:spPr>
      </p:sp>
      <p:sp>
        <p:nvSpPr>
          <p:cNvPr id="25" name="Text 23"/>
          <p:cNvSpPr/>
          <p:nvPr/>
        </p:nvSpPr>
        <p:spPr>
          <a:xfrm>
            <a:off x="10982326" y="9086850"/>
            <a:ext cx="6333115" cy="335280"/>
          </a:xfrm>
          <a:prstGeom prst="rect">
            <a:avLst/>
          </a:prstGeom>
          <a:noFill/>
          <a:ln/>
        </p:spPr>
        <p:txBody>
          <a:bodyPr wrap="square" lIns="25400" tIns="25400" rIns="25400" bIns="25400" rtlCol="0" anchor="t">
            <a:normAutofit/>
          </a:bodyPr>
          <a:lstStyle/>
          <a:p>
            <a:pPr algn="l" indent="0" marL="0">
              <a:buNone/>
            </a:pPr>
            <a:r>
              <a:rPr lang="en-US" sz="1800" dirty="0">
                <a:solidFill>
                  <a:srgbClr val="6F6B63"/>
                </a:solidFill>
                <a:latin typeface="Courier New" pitchFamily="34" charset="0"/>
                <a:ea typeface="Courier New" pitchFamily="34" charset="-122"/>
                <a:cs typeface="Courier New" pitchFamily="34" charset="-120"/>
              </a:rPr>
              <a:t>u radu: layer4 · α = 0.42</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952500" y="742950"/>
            <a:ext cx="18021300" cy="33528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A3FB0"/>
                </a:solidFill>
                <a:latin typeface="Courier New" pitchFamily="34" charset="0"/>
                <a:ea typeface="Courier New" pitchFamily="34" charset="-122"/>
                <a:cs typeface="Courier New" pitchFamily="34" charset="-120"/>
              </a:rPr>
              <a:t>04B · GRADIJENTNA METODA</a:t>
            </a:r>
            <a:endParaRPr lang="en-US" sz="1800" dirty="0"/>
          </a:p>
        </p:txBody>
      </p:sp>
      <p:sp>
        <p:nvSpPr>
          <p:cNvPr id="3" name="Text 1"/>
          <p:cNvSpPr/>
          <p:nvPr/>
        </p:nvSpPr>
        <p:spPr>
          <a:xfrm>
            <a:off x="952500" y="1154430"/>
            <a:ext cx="18021300" cy="598170"/>
          </a:xfrm>
          <a:prstGeom prst="rect">
            <a:avLst/>
          </a:prstGeom>
          <a:noFill/>
          <a:ln/>
        </p:spPr>
        <p:txBody>
          <a:bodyPr wrap="square" lIns="25400" tIns="25400" rIns="25400" bIns="25400" rtlCol="0" anchor="t">
            <a:normAutofit/>
          </a:bodyPr>
          <a:lstStyle/>
          <a:p>
            <a:pPr algn="l" indent="0" marL="0">
              <a:lnSpc>
                <a:spcPct val="105000"/>
              </a:lnSpc>
              <a:buNone/>
            </a:pPr>
            <a:r>
              <a:rPr lang="en-US" sz="4200" b="1" spc="-42" kern="0" dirty="0">
                <a:solidFill>
                  <a:srgbClr val="221F29"/>
                </a:solidFill>
                <a:latin typeface="Georgia" pitchFamily="34" charset="0"/>
                <a:ea typeface="Georgia" pitchFamily="34" charset="-122"/>
                <a:cs typeface="Georgia" pitchFamily="34" charset="-120"/>
              </a:rPr>
              <a:t>Integrated Gradients — gradijent duž putanje</a:t>
            </a:r>
            <a:endParaRPr lang="en-US" sz="4200" dirty="0"/>
          </a:p>
        </p:txBody>
      </p:sp>
      <p:sp>
        <p:nvSpPr>
          <p:cNvPr id="4" name="Text 2"/>
          <p:cNvSpPr/>
          <p:nvPr/>
        </p:nvSpPr>
        <p:spPr>
          <a:xfrm>
            <a:off x="952500" y="2000250"/>
            <a:ext cx="9812712" cy="1229916"/>
          </a:xfrm>
          <a:prstGeom prst="rect">
            <a:avLst/>
          </a:prstGeom>
          <a:noFill/>
          <a:ln/>
        </p:spPr>
        <p:txBody>
          <a:bodyPr wrap="square" lIns="25400" tIns="25400" rIns="25400" bIns="25400" rtlCol="0" anchor="t">
            <a:normAutofit/>
          </a:bodyPr>
          <a:lstStyle/>
          <a:p>
            <a:pPr algn="l" indent="0" marL="0">
              <a:lnSpc>
                <a:spcPct val="142000"/>
              </a:lnSpc>
              <a:buNone/>
            </a:pPr>
            <a:r>
              <a:rPr lang="en-US" sz="2175" b="1" dirty="0">
                <a:solidFill>
                  <a:srgbClr val="5A2FA0"/>
                </a:solidFill>
                <a:latin typeface="Georgia" pitchFamily="34" charset="0"/>
                <a:ea typeface="Georgia" pitchFamily="34" charset="-122"/>
                <a:cs typeface="Georgia" pitchFamily="34" charset="-120"/>
              </a:rPr>
              <a:t>U suštini: </a:t>
            </a:r>
            <a:pPr algn="l" indent="0" marL="0">
              <a:lnSpc>
                <a:spcPct val="142000"/>
              </a:lnSpc>
              <a:buNone/>
            </a:pPr>
            <a:r>
              <a:rPr lang="en-US" sz="2175" dirty="0">
                <a:solidFill>
                  <a:srgbClr val="45424B"/>
                </a:solidFill>
                <a:latin typeface="Arial" pitchFamily="34" charset="0"/>
                <a:ea typeface="Arial" pitchFamily="34" charset="-122"/>
                <a:cs typeface="Arial" pitchFamily="34" charset="-120"/>
              </a:rPr>
              <a:t>Da provjeri koliko je piksel bitan, IG sliku postepeno „gradi" od prazne crne do prave i usput sabira doprinos svakog piksela. Tako uhvati i one piksele koje bi mjerenje u </a:t>
            </a:r>
            <a:pPr algn="l" indent="0" marL="0">
              <a:lnSpc>
                <a:spcPct val="142000"/>
              </a:lnSpc>
              <a:buNone/>
            </a:pPr>
            <a:r>
              <a:rPr lang="en-US" sz="2175" b="1" dirty="0">
                <a:solidFill>
                  <a:srgbClr val="221F29"/>
                </a:solidFill>
                <a:latin typeface="Arial" pitchFamily="34" charset="0"/>
                <a:ea typeface="Arial" pitchFamily="34" charset="-122"/>
                <a:cs typeface="Arial" pitchFamily="34" charset="-120"/>
              </a:rPr>
              <a:t>samo jednoj tački </a:t>
            </a:r>
            <a:pPr algn="l" indent="0" marL="0">
              <a:lnSpc>
                <a:spcPct val="142000"/>
              </a:lnSpc>
              <a:buNone/>
            </a:pPr>
            <a:r>
              <a:rPr lang="en-US" sz="2175" dirty="0">
                <a:solidFill>
                  <a:srgbClr val="45424B"/>
                </a:solidFill>
                <a:latin typeface="Arial" pitchFamily="34" charset="0"/>
                <a:ea typeface="Arial" pitchFamily="34" charset="-122"/>
                <a:cs typeface="Arial" pitchFamily="34" charset="-120"/>
              </a:rPr>
              <a:t>promašilo (zasićenje).</a:t>
            </a:r>
            <a:endParaRPr lang="en-US" sz="2175" dirty="0"/>
          </a:p>
        </p:txBody>
      </p:sp>
      <p:sp>
        <p:nvSpPr>
          <p:cNvPr id="5" name="Shape 3"/>
          <p:cNvSpPr/>
          <p:nvPr/>
        </p:nvSpPr>
        <p:spPr>
          <a:xfrm>
            <a:off x="952500" y="3382566"/>
            <a:ext cx="3086695" cy="1482090"/>
          </a:xfrm>
          <a:prstGeom prst="roundRect">
            <a:avLst>
              <a:gd name="adj" fmla="val 7712"/>
            </a:avLst>
          </a:prstGeom>
          <a:solidFill>
            <a:srgbClr val="FFFFFF"/>
          </a:solidFill>
          <a:ln w="7620">
            <a:solidFill>
              <a:srgbClr val="E7E2D7"/>
            </a:solidFill>
            <a:prstDash val="solid"/>
          </a:ln>
        </p:spPr>
      </p:sp>
      <p:sp>
        <p:nvSpPr>
          <p:cNvPr id="6" name="Text 4"/>
          <p:cNvSpPr/>
          <p:nvPr/>
        </p:nvSpPr>
        <p:spPr>
          <a:xfrm>
            <a:off x="1188720" y="3618786"/>
            <a:ext cx="2875681" cy="335280"/>
          </a:xfrm>
          <a:prstGeom prst="rect">
            <a:avLst/>
          </a:prstGeom>
          <a:noFill/>
          <a:ln/>
        </p:spPr>
        <p:txBody>
          <a:bodyPr wrap="square" lIns="25400" tIns="25400" rIns="25400" bIns="25400" rtlCol="0" anchor="t">
            <a:normAutofit/>
          </a:bodyPr>
          <a:lstStyle/>
          <a:p>
            <a:pPr algn="l" indent="0" marL="0">
              <a:buNone/>
            </a:pPr>
            <a:r>
              <a:rPr lang="en-US" sz="1800" dirty="0">
                <a:solidFill>
                  <a:srgbClr val="6A3FB0"/>
                </a:solidFill>
                <a:latin typeface="Courier New" pitchFamily="34" charset="0"/>
                <a:ea typeface="Courier New" pitchFamily="34" charset="-122"/>
                <a:cs typeface="Courier New" pitchFamily="34" charset="-120"/>
              </a:rPr>
              <a:t>01</a:t>
            </a:r>
            <a:endParaRPr lang="en-US" sz="1800" dirty="0"/>
          </a:p>
        </p:txBody>
      </p:sp>
      <p:sp>
        <p:nvSpPr>
          <p:cNvPr id="7" name="Text 5"/>
          <p:cNvSpPr/>
          <p:nvPr/>
        </p:nvSpPr>
        <p:spPr>
          <a:xfrm>
            <a:off x="1188720" y="4011216"/>
            <a:ext cx="2692683" cy="655320"/>
          </a:xfrm>
          <a:prstGeom prst="rect">
            <a:avLst/>
          </a:prstGeom>
          <a:noFill/>
          <a:ln/>
        </p:spPr>
        <p:txBody>
          <a:bodyPr wrap="square" lIns="25400" tIns="25400" rIns="25400" bIns="25400" rtlCol="0" anchor="t">
            <a:normAutofit/>
          </a:bodyPr>
          <a:lstStyle/>
          <a:p>
            <a:pPr algn="l" indent="0" marL="0">
              <a:lnSpc>
                <a:spcPct val="135000"/>
              </a:lnSpc>
              <a:buNone/>
            </a:pPr>
            <a:r>
              <a:rPr lang="en-US" sz="1800" dirty="0">
                <a:solidFill>
                  <a:srgbClr val="45424B"/>
                </a:solidFill>
                <a:latin typeface="Arial" pitchFamily="34" charset="0"/>
                <a:ea typeface="Arial" pitchFamily="34" charset="-122"/>
                <a:cs typeface="Arial" pitchFamily="34" charset="-120"/>
              </a:rPr>
              <a:t>Krene od crne slike — model isprva ne vidi ništa</a:t>
            </a:r>
            <a:endParaRPr lang="en-US" sz="1800" dirty="0"/>
          </a:p>
        </p:txBody>
      </p:sp>
      <p:sp>
        <p:nvSpPr>
          <p:cNvPr id="8" name="Shape 6"/>
          <p:cNvSpPr/>
          <p:nvPr/>
        </p:nvSpPr>
        <p:spPr>
          <a:xfrm>
            <a:off x="4172545" y="3382566"/>
            <a:ext cx="3086814" cy="1482090"/>
          </a:xfrm>
          <a:prstGeom prst="roundRect">
            <a:avLst>
              <a:gd name="adj" fmla="val 7712"/>
            </a:avLst>
          </a:prstGeom>
          <a:solidFill>
            <a:srgbClr val="FFFFFF"/>
          </a:solidFill>
          <a:ln w="7620">
            <a:solidFill>
              <a:srgbClr val="E7E2D7"/>
            </a:solidFill>
            <a:prstDash val="solid"/>
          </a:ln>
        </p:spPr>
      </p:sp>
      <p:sp>
        <p:nvSpPr>
          <p:cNvPr id="9" name="Text 7"/>
          <p:cNvSpPr/>
          <p:nvPr/>
        </p:nvSpPr>
        <p:spPr>
          <a:xfrm>
            <a:off x="4408765" y="3618786"/>
            <a:ext cx="2875812" cy="335280"/>
          </a:xfrm>
          <a:prstGeom prst="rect">
            <a:avLst/>
          </a:prstGeom>
          <a:noFill/>
          <a:ln/>
        </p:spPr>
        <p:txBody>
          <a:bodyPr wrap="square" lIns="25400" tIns="25400" rIns="25400" bIns="25400" rtlCol="0" anchor="t">
            <a:normAutofit/>
          </a:bodyPr>
          <a:lstStyle/>
          <a:p>
            <a:pPr algn="l" indent="0" marL="0">
              <a:buNone/>
            </a:pPr>
            <a:r>
              <a:rPr lang="en-US" sz="1800" dirty="0">
                <a:solidFill>
                  <a:srgbClr val="6A3FB0"/>
                </a:solidFill>
                <a:latin typeface="Courier New" pitchFamily="34" charset="0"/>
                <a:ea typeface="Courier New" pitchFamily="34" charset="-122"/>
                <a:cs typeface="Courier New" pitchFamily="34" charset="-120"/>
              </a:rPr>
              <a:t>02</a:t>
            </a:r>
            <a:endParaRPr lang="en-US" sz="1800" dirty="0"/>
          </a:p>
        </p:txBody>
      </p:sp>
      <p:sp>
        <p:nvSpPr>
          <p:cNvPr id="10" name="Text 8"/>
          <p:cNvSpPr/>
          <p:nvPr/>
        </p:nvSpPr>
        <p:spPr>
          <a:xfrm>
            <a:off x="4408765" y="4011216"/>
            <a:ext cx="2692806" cy="655320"/>
          </a:xfrm>
          <a:prstGeom prst="rect">
            <a:avLst/>
          </a:prstGeom>
          <a:noFill/>
          <a:ln/>
        </p:spPr>
        <p:txBody>
          <a:bodyPr wrap="square" lIns="25400" tIns="25400" rIns="25400" bIns="25400" rtlCol="0" anchor="t">
            <a:normAutofit/>
          </a:bodyPr>
          <a:lstStyle/>
          <a:p>
            <a:pPr algn="l" indent="0" marL="0">
              <a:lnSpc>
                <a:spcPct val="135000"/>
              </a:lnSpc>
              <a:buNone/>
            </a:pPr>
            <a:r>
              <a:rPr lang="en-US" sz="1800" dirty="0">
                <a:solidFill>
                  <a:srgbClr val="45424B"/>
                </a:solidFill>
                <a:latin typeface="Arial" pitchFamily="34" charset="0"/>
                <a:ea typeface="Arial" pitchFamily="34" charset="-122"/>
                <a:cs typeface="Arial" pitchFamily="34" charset="-120"/>
              </a:rPr>
              <a:t>U 96 sitnih koraka dodaje pravu sliku</a:t>
            </a:r>
            <a:endParaRPr lang="en-US" sz="1800" dirty="0"/>
          </a:p>
        </p:txBody>
      </p:sp>
      <p:sp>
        <p:nvSpPr>
          <p:cNvPr id="11" name="Shape 9"/>
          <p:cNvSpPr/>
          <p:nvPr/>
        </p:nvSpPr>
        <p:spPr>
          <a:xfrm>
            <a:off x="7392710" y="3382566"/>
            <a:ext cx="3086695" cy="1482090"/>
          </a:xfrm>
          <a:prstGeom prst="roundRect">
            <a:avLst>
              <a:gd name="adj" fmla="val 7712"/>
            </a:avLst>
          </a:prstGeom>
          <a:solidFill>
            <a:srgbClr val="FFFFFF"/>
          </a:solidFill>
          <a:ln w="7620">
            <a:solidFill>
              <a:srgbClr val="E7E2D7"/>
            </a:solidFill>
            <a:prstDash val="solid"/>
          </a:ln>
        </p:spPr>
      </p:sp>
      <p:sp>
        <p:nvSpPr>
          <p:cNvPr id="12" name="Text 10"/>
          <p:cNvSpPr/>
          <p:nvPr/>
        </p:nvSpPr>
        <p:spPr>
          <a:xfrm>
            <a:off x="7628930" y="3618786"/>
            <a:ext cx="2875681" cy="335280"/>
          </a:xfrm>
          <a:prstGeom prst="rect">
            <a:avLst/>
          </a:prstGeom>
          <a:noFill/>
          <a:ln/>
        </p:spPr>
        <p:txBody>
          <a:bodyPr wrap="square" lIns="25400" tIns="25400" rIns="25400" bIns="25400" rtlCol="0" anchor="t">
            <a:normAutofit/>
          </a:bodyPr>
          <a:lstStyle/>
          <a:p>
            <a:pPr algn="l" indent="0" marL="0">
              <a:buNone/>
            </a:pPr>
            <a:r>
              <a:rPr lang="en-US" sz="1800" dirty="0">
                <a:solidFill>
                  <a:srgbClr val="6A3FB0"/>
                </a:solidFill>
                <a:latin typeface="Courier New" pitchFamily="34" charset="0"/>
                <a:ea typeface="Courier New" pitchFamily="34" charset="-122"/>
                <a:cs typeface="Courier New" pitchFamily="34" charset="-120"/>
              </a:rPr>
              <a:t>03</a:t>
            </a:r>
            <a:endParaRPr lang="en-US" sz="1800" dirty="0"/>
          </a:p>
        </p:txBody>
      </p:sp>
      <p:sp>
        <p:nvSpPr>
          <p:cNvPr id="13" name="Text 11"/>
          <p:cNvSpPr/>
          <p:nvPr/>
        </p:nvSpPr>
        <p:spPr>
          <a:xfrm>
            <a:off x="7628930" y="4011216"/>
            <a:ext cx="2692683" cy="655320"/>
          </a:xfrm>
          <a:prstGeom prst="rect">
            <a:avLst/>
          </a:prstGeom>
          <a:noFill/>
          <a:ln/>
        </p:spPr>
        <p:txBody>
          <a:bodyPr wrap="square" lIns="25400" tIns="25400" rIns="25400" bIns="25400" rtlCol="0" anchor="t">
            <a:normAutofit/>
          </a:bodyPr>
          <a:lstStyle/>
          <a:p>
            <a:pPr algn="l" indent="0" marL="0">
              <a:lnSpc>
                <a:spcPct val="135000"/>
              </a:lnSpc>
              <a:buNone/>
            </a:pPr>
            <a:r>
              <a:rPr lang="en-US" sz="1800" dirty="0">
                <a:solidFill>
                  <a:srgbClr val="45424B"/>
                </a:solidFill>
                <a:latin typeface="Arial" pitchFamily="34" charset="0"/>
                <a:ea typeface="Arial" pitchFamily="34" charset="-122"/>
                <a:cs typeface="Arial" pitchFamily="34" charset="-120"/>
              </a:rPr>
              <a:t>Sabere gradijente s puta → doprinos po pikselu</a:t>
            </a:r>
            <a:endParaRPr lang="en-US" sz="1800" dirty="0"/>
          </a:p>
        </p:txBody>
      </p:sp>
      <p:sp>
        <p:nvSpPr>
          <p:cNvPr id="14" name="Shape 12"/>
          <p:cNvSpPr/>
          <p:nvPr/>
        </p:nvSpPr>
        <p:spPr>
          <a:xfrm>
            <a:off x="952500" y="5055156"/>
            <a:ext cx="9526905" cy="1219200"/>
          </a:xfrm>
          <a:prstGeom prst="roundRect">
            <a:avLst>
              <a:gd name="adj" fmla="val 9375"/>
            </a:avLst>
          </a:prstGeom>
          <a:solidFill>
            <a:srgbClr val="221F29"/>
          </a:solidFill>
          <a:ln/>
        </p:spPr>
      </p:sp>
      <p:sp>
        <p:nvSpPr>
          <p:cNvPr id="15" name="Text 13"/>
          <p:cNvSpPr/>
          <p:nvPr/>
        </p:nvSpPr>
        <p:spPr>
          <a:xfrm>
            <a:off x="1238250" y="5302806"/>
            <a:ext cx="9850946" cy="350520"/>
          </a:xfrm>
          <a:prstGeom prst="rect">
            <a:avLst/>
          </a:prstGeom>
          <a:noFill/>
          <a:ln/>
        </p:spPr>
        <p:txBody>
          <a:bodyPr wrap="square" lIns="25400" tIns="25400" rIns="25400" bIns="25400" rtlCol="0" anchor="t">
            <a:normAutofit/>
          </a:bodyPr>
          <a:lstStyle/>
          <a:p>
            <a:pPr algn="l" indent="0" marL="0">
              <a:buNone/>
            </a:pPr>
            <a:r>
              <a:rPr lang="en-US" sz="1875" dirty="0">
                <a:solidFill>
                  <a:srgbClr val="B79AEC"/>
                </a:solidFill>
                <a:latin typeface="Courier New" pitchFamily="34" charset="0"/>
                <a:ea typeface="Courier New" pitchFamily="34" charset="-122"/>
                <a:cs typeface="Courier New" pitchFamily="34" charset="-120"/>
              </a:rPr>
              <a:t>IGᵢ(x) </a:t>
            </a:r>
            <a:pPr algn="l" indent="0" marL="0">
              <a:buNone/>
            </a:pPr>
            <a:r>
              <a:rPr lang="en-US" sz="1875" dirty="0">
                <a:solidFill>
                  <a:srgbClr val="E9E4F3"/>
                </a:solidFill>
                <a:latin typeface="Courier New" pitchFamily="34" charset="0"/>
                <a:ea typeface="Courier New" pitchFamily="34" charset="-122"/>
                <a:cs typeface="Courier New" pitchFamily="34" charset="-120"/>
              </a:rPr>
              <a:t>= (xᵢ − x′ᵢ) · ∫₀¹ ∂F(x′+α(x−x′))/∂xᵢ dα</a:t>
            </a:r>
            <a:endParaRPr lang="en-US" sz="1875" dirty="0"/>
          </a:p>
        </p:txBody>
      </p:sp>
      <p:sp>
        <p:nvSpPr>
          <p:cNvPr id="16" name="Text 14"/>
          <p:cNvSpPr/>
          <p:nvPr/>
        </p:nvSpPr>
        <p:spPr>
          <a:xfrm>
            <a:off x="1238250" y="5729526"/>
            <a:ext cx="9850946" cy="335280"/>
          </a:xfrm>
          <a:prstGeom prst="rect">
            <a:avLst/>
          </a:prstGeom>
          <a:noFill/>
          <a:ln/>
        </p:spPr>
        <p:txBody>
          <a:bodyPr wrap="square" lIns="25400" tIns="25400" rIns="25400" bIns="25400" rtlCol="0" anchor="t">
            <a:normAutofit/>
          </a:bodyPr>
          <a:lstStyle/>
          <a:p>
            <a:pPr algn="l" indent="0" marL="0">
              <a:buNone/>
            </a:pPr>
            <a:r>
              <a:rPr lang="en-US" sz="1800" dirty="0">
                <a:solidFill>
                  <a:srgbClr val="9A8FC4"/>
                </a:solidFill>
                <a:latin typeface="Courier New" pitchFamily="34" charset="0"/>
                <a:ea typeface="Courier New" pitchFamily="34" charset="-122"/>
                <a:cs typeface="Courier New" pitchFamily="34" charset="-120"/>
              </a:rPr>
              <a:t>čita se: zbroj sitnih doprinosa duž puta od crne do prave slike.</a:t>
            </a:r>
            <a:endParaRPr lang="en-US" sz="1800" dirty="0"/>
          </a:p>
        </p:txBody>
      </p:sp>
      <p:sp>
        <p:nvSpPr>
          <p:cNvPr id="17" name="Shape 15"/>
          <p:cNvSpPr/>
          <p:nvPr/>
        </p:nvSpPr>
        <p:spPr>
          <a:xfrm>
            <a:off x="10765156" y="2000250"/>
            <a:ext cx="6570345" cy="3162300"/>
          </a:xfrm>
          <a:prstGeom prst="roundRect">
            <a:avLst>
              <a:gd name="adj" fmla="val 3614"/>
            </a:avLst>
          </a:prstGeom>
          <a:solidFill>
            <a:srgbClr val="EEF6F0"/>
          </a:solidFill>
          <a:ln w="7620">
            <a:solidFill>
              <a:srgbClr val="CFE6D6"/>
            </a:solidFill>
            <a:prstDash val="solid"/>
          </a:ln>
        </p:spPr>
      </p:sp>
      <p:sp>
        <p:nvSpPr>
          <p:cNvPr id="18" name="Text 16"/>
          <p:cNvSpPr/>
          <p:nvPr/>
        </p:nvSpPr>
        <p:spPr>
          <a:xfrm>
            <a:off x="11096625" y="2293620"/>
            <a:ext cx="6498146" cy="33528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3F7D54"/>
                </a:solidFill>
                <a:latin typeface="Courier New" pitchFamily="34" charset="0"/>
                <a:ea typeface="Courier New" pitchFamily="34" charset="-122"/>
                <a:cs typeface="Courier New" pitchFamily="34" charset="-120"/>
              </a:rPr>
              <a:t>PREDNOST</a:t>
            </a:r>
            <a:endParaRPr lang="en-US" sz="1800" dirty="0"/>
          </a:p>
        </p:txBody>
      </p:sp>
      <p:sp>
        <p:nvSpPr>
          <p:cNvPr id="19" name="Text 17"/>
          <p:cNvSpPr/>
          <p:nvPr/>
        </p:nvSpPr>
        <p:spPr>
          <a:xfrm>
            <a:off x="11096625" y="2724150"/>
            <a:ext cx="6084627" cy="1078230"/>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2C4A37"/>
                </a:solidFill>
                <a:latin typeface="Arial" pitchFamily="34" charset="0"/>
                <a:ea typeface="Arial" pitchFamily="34" charset="-122"/>
                <a:cs typeface="Arial" pitchFamily="34" charset="-120"/>
              </a:rPr>
              <a:t>Zadovoljava osjetljivost i invarijantnost implementacije — svojstva koja jednostavan gradijent ne garantuje.</a:t>
            </a:r>
            <a:endParaRPr lang="en-US" sz="1950" dirty="0"/>
          </a:p>
        </p:txBody>
      </p:sp>
      <p:sp>
        <p:nvSpPr>
          <p:cNvPr id="20" name="Shape 18"/>
          <p:cNvSpPr/>
          <p:nvPr/>
        </p:nvSpPr>
        <p:spPr>
          <a:xfrm>
            <a:off x="10765156" y="5314950"/>
            <a:ext cx="6570345" cy="3162300"/>
          </a:xfrm>
          <a:prstGeom prst="roundRect">
            <a:avLst>
              <a:gd name="adj" fmla="val 3614"/>
            </a:avLst>
          </a:prstGeom>
          <a:solidFill>
            <a:srgbClr val="F9EFE9"/>
          </a:solidFill>
          <a:ln w="7620">
            <a:solidFill>
              <a:srgbClr val="ECD4C8"/>
            </a:solidFill>
            <a:prstDash val="solid"/>
          </a:ln>
        </p:spPr>
      </p:sp>
      <p:sp>
        <p:nvSpPr>
          <p:cNvPr id="21" name="Text 19"/>
          <p:cNvSpPr/>
          <p:nvPr/>
        </p:nvSpPr>
        <p:spPr>
          <a:xfrm>
            <a:off x="11096625" y="5608320"/>
            <a:ext cx="6498146" cy="33528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A85A3C"/>
                </a:solidFill>
                <a:latin typeface="Courier New" pitchFamily="34" charset="0"/>
                <a:ea typeface="Courier New" pitchFamily="34" charset="-122"/>
                <a:cs typeface="Courier New" pitchFamily="34" charset="-120"/>
              </a:rPr>
              <a:t>MANA</a:t>
            </a:r>
            <a:endParaRPr lang="en-US" sz="1800" dirty="0"/>
          </a:p>
        </p:txBody>
      </p:sp>
      <p:sp>
        <p:nvSpPr>
          <p:cNvPr id="22" name="Text 20"/>
          <p:cNvSpPr/>
          <p:nvPr/>
        </p:nvSpPr>
        <p:spPr>
          <a:xfrm>
            <a:off x="11096625" y="6038850"/>
            <a:ext cx="6084627" cy="731520"/>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7A4730"/>
                </a:solidFill>
                <a:latin typeface="Arial" pitchFamily="34" charset="0"/>
                <a:ea typeface="Arial" pitchFamily="34" charset="-122"/>
                <a:cs typeface="Arial" pitchFamily="34" charset="-120"/>
              </a:rPr>
              <a:t>Osjetljiv na izbor referentne slike; pikselni prikaz je vizuelno najmanje intuitivan i šumovit.</a:t>
            </a:r>
            <a:endParaRPr lang="en-US" sz="1950" dirty="0"/>
          </a:p>
        </p:txBody>
      </p:sp>
      <p:sp>
        <p:nvSpPr>
          <p:cNvPr id="23" name="Shape 21"/>
          <p:cNvSpPr/>
          <p:nvPr/>
        </p:nvSpPr>
        <p:spPr>
          <a:xfrm>
            <a:off x="10765156" y="8629650"/>
            <a:ext cx="6570345" cy="914400"/>
          </a:xfrm>
          <a:prstGeom prst="roundRect">
            <a:avLst>
              <a:gd name="adj" fmla="val 10417"/>
            </a:avLst>
          </a:prstGeom>
          <a:solidFill>
            <a:srgbClr val="FFFFFF"/>
          </a:solidFill>
          <a:ln w="7620">
            <a:solidFill>
              <a:srgbClr val="E7E2D7"/>
            </a:solidFill>
            <a:prstDash val="solid"/>
          </a:ln>
        </p:spPr>
      </p:sp>
      <p:sp>
        <p:nvSpPr>
          <p:cNvPr id="24" name="Text 22"/>
          <p:cNvSpPr/>
          <p:nvPr/>
        </p:nvSpPr>
        <p:spPr>
          <a:xfrm>
            <a:off x="10982326" y="8789670"/>
            <a:ext cx="6333115" cy="632460"/>
          </a:xfrm>
          <a:prstGeom prst="rect">
            <a:avLst/>
          </a:prstGeom>
          <a:noFill/>
          <a:ln/>
        </p:spPr>
        <p:txBody>
          <a:bodyPr wrap="square" lIns="25400" tIns="25400" rIns="25400" bIns="25400" rtlCol="0" anchor="t">
            <a:normAutofit/>
          </a:bodyPr>
          <a:lstStyle/>
          <a:p>
            <a:pPr algn="l" indent="0" marL="0">
              <a:buNone/>
            </a:pPr>
            <a:r>
              <a:rPr lang="en-US" sz="1800" dirty="0">
                <a:solidFill>
                  <a:srgbClr val="6F6B63"/>
                </a:solidFill>
                <a:latin typeface="Courier New" pitchFamily="34" charset="0"/>
                <a:ea typeface="Courier New" pitchFamily="34" charset="-122"/>
                <a:cs typeface="Courier New" pitchFamily="34" charset="-120"/>
              </a:rPr>
              <a:t>u radu: referenca crna · 96 koraka · α = 0.36</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952500" y="742950"/>
            <a:ext cx="18021300" cy="33528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A3FB0"/>
                </a:solidFill>
                <a:latin typeface="Courier New" pitchFamily="34" charset="0"/>
                <a:ea typeface="Courier New" pitchFamily="34" charset="-122"/>
                <a:cs typeface="Courier New" pitchFamily="34" charset="-120"/>
              </a:rPr>
              <a:t>04C · PERTURBACIJSKA METODA</a:t>
            </a:r>
            <a:endParaRPr lang="en-US" sz="1800" dirty="0"/>
          </a:p>
        </p:txBody>
      </p:sp>
      <p:sp>
        <p:nvSpPr>
          <p:cNvPr id="3" name="Text 1"/>
          <p:cNvSpPr/>
          <p:nvPr/>
        </p:nvSpPr>
        <p:spPr>
          <a:xfrm>
            <a:off x="952500" y="1154430"/>
            <a:ext cx="18021300" cy="598170"/>
          </a:xfrm>
          <a:prstGeom prst="rect">
            <a:avLst/>
          </a:prstGeom>
          <a:noFill/>
          <a:ln/>
        </p:spPr>
        <p:txBody>
          <a:bodyPr wrap="square" lIns="25400" tIns="25400" rIns="25400" bIns="25400" rtlCol="0" anchor="t">
            <a:normAutofit/>
          </a:bodyPr>
          <a:lstStyle/>
          <a:p>
            <a:pPr algn="l" indent="0" marL="0">
              <a:lnSpc>
                <a:spcPct val="105000"/>
              </a:lnSpc>
              <a:buNone/>
            </a:pPr>
            <a:r>
              <a:rPr lang="en-US" sz="4200" b="1" spc="-42" kern="0" dirty="0">
                <a:solidFill>
                  <a:srgbClr val="221F29"/>
                </a:solidFill>
                <a:latin typeface="Georgia" pitchFamily="34" charset="0"/>
                <a:ea typeface="Georgia" pitchFamily="34" charset="-122"/>
                <a:cs typeface="Georgia" pitchFamily="34" charset="-120"/>
              </a:rPr>
              <a:t>LIME — lokalna aproksimacija nad superpikselima</a:t>
            </a:r>
            <a:endParaRPr lang="en-US" sz="4200" dirty="0"/>
          </a:p>
        </p:txBody>
      </p:sp>
      <p:sp>
        <p:nvSpPr>
          <p:cNvPr id="4" name="Text 2"/>
          <p:cNvSpPr/>
          <p:nvPr/>
        </p:nvSpPr>
        <p:spPr>
          <a:xfrm>
            <a:off x="952500" y="2000250"/>
            <a:ext cx="9812712" cy="1229916"/>
          </a:xfrm>
          <a:prstGeom prst="rect">
            <a:avLst/>
          </a:prstGeom>
          <a:noFill/>
          <a:ln/>
        </p:spPr>
        <p:txBody>
          <a:bodyPr wrap="square" lIns="25400" tIns="25400" rIns="25400" bIns="25400" rtlCol="0" anchor="t">
            <a:normAutofit/>
          </a:bodyPr>
          <a:lstStyle/>
          <a:p>
            <a:pPr algn="l" indent="0" marL="0">
              <a:lnSpc>
                <a:spcPct val="142000"/>
              </a:lnSpc>
              <a:buNone/>
            </a:pPr>
            <a:r>
              <a:rPr lang="en-US" sz="2175" b="1" dirty="0">
                <a:solidFill>
                  <a:srgbClr val="5A2FA0"/>
                </a:solidFill>
                <a:latin typeface="Georgia" pitchFamily="34" charset="0"/>
                <a:ea typeface="Georgia" pitchFamily="34" charset="-122"/>
                <a:cs typeface="Georgia" pitchFamily="34" charset="-120"/>
              </a:rPr>
              <a:t>U suštini: </a:t>
            </a:r>
            <a:pPr algn="l" indent="0" marL="0">
              <a:lnSpc>
                <a:spcPct val="142000"/>
              </a:lnSpc>
              <a:buNone/>
            </a:pPr>
            <a:r>
              <a:rPr lang="en-US" sz="2175" dirty="0">
                <a:solidFill>
                  <a:srgbClr val="45424B"/>
                </a:solidFill>
                <a:latin typeface="Arial" pitchFamily="34" charset="0"/>
                <a:ea typeface="Arial" pitchFamily="34" charset="-122"/>
                <a:cs typeface="Arial" pitchFamily="34" charset="-120"/>
              </a:rPr>
              <a:t>LIME ne zaviruje u mrežu. Sliku izdijeli na krpice, nasumično ih „gasi" i gleda kako reaguje predikcija — krpice koje najviše mijenjaju izlaz su </a:t>
            </a:r>
            <a:pPr algn="l" indent="0" marL="0">
              <a:lnSpc>
                <a:spcPct val="142000"/>
              </a:lnSpc>
              <a:buNone/>
            </a:pPr>
            <a:r>
              <a:rPr lang="en-US" sz="2175" b="1" dirty="0">
                <a:solidFill>
                  <a:srgbClr val="221F29"/>
                </a:solidFill>
                <a:latin typeface="Arial" pitchFamily="34" charset="0"/>
                <a:ea typeface="Arial" pitchFamily="34" charset="-122"/>
                <a:cs typeface="Arial" pitchFamily="34" charset="-120"/>
              </a:rPr>
              <a:t>važne </a:t>
            </a:r>
            <a:pPr algn="l" indent="0" marL="0">
              <a:lnSpc>
                <a:spcPct val="142000"/>
              </a:lnSpc>
              <a:buNone/>
            </a:pPr>
            <a:r>
              <a:rPr lang="en-US" sz="2175" dirty="0">
                <a:solidFill>
                  <a:srgbClr val="45424B"/>
                </a:solidFill>
                <a:latin typeface="Arial" pitchFamily="34" charset="0"/>
                <a:ea typeface="Arial" pitchFamily="34" charset="-122"/>
                <a:cs typeface="Arial" pitchFamily="34" charset="-120"/>
              </a:rPr>
              <a:t>i dobiju žute konture.</a:t>
            </a:r>
            <a:endParaRPr lang="en-US" sz="2175" dirty="0"/>
          </a:p>
        </p:txBody>
      </p:sp>
      <p:sp>
        <p:nvSpPr>
          <p:cNvPr id="5" name="Shape 3"/>
          <p:cNvSpPr/>
          <p:nvPr/>
        </p:nvSpPr>
        <p:spPr>
          <a:xfrm>
            <a:off x="952500" y="3382566"/>
            <a:ext cx="3086695" cy="1482090"/>
          </a:xfrm>
          <a:prstGeom prst="roundRect">
            <a:avLst>
              <a:gd name="adj" fmla="val 7712"/>
            </a:avLst>
          </a:prstGeom>
          <a:solidFill>
            <a:srgbClr val="FFFFFF"/>
          </a:solidFill>
          <a:ln w="7620">
            <a:solidFill>
              <a:srgbClr val="E7E2D7"/>
            </a:solidFill>
            <a:prstDash val="solid"/>
          </a:ln>
        </p:spPr>
      </p:sp>
      <p:sp>
        <p:nvSpPr>
          <p:cNvPr id="6" name="Text 4"/>
          <p:cNvSpPr/>
          <p:nvPr/>
        </p:nvSpPr>
        <p:spPr>
          <a:xfrm>
            <a:off x="1188720" y="3618786"/>
            <a:ext cx="2875681" cy="335280"/>
          </a:xfrm>
          <a:prstGeom prst="rect">
            <a:avLst/>
          </a:prstGeom>
          <a:noFill/>
          <a:ln/>
        </p:spPr>
        <p:txBody>
          <a:bodyPr wrap="square" lIns="25400" tIns="25400" rIns="25400" bIns="25400" rtlCol="0" anchor="t">
            <a:normAutofit/>
          </a:bodyPr>
          <a:lstStyle/>
          <a:p>
            <a:pPr algn="l" indent="0" marL="0">
              <a:buNone/>
            </a:pPr>
            <a:r>
              <a:rPr lang="en-US" sz="1800" dirty="0">
                <a:solidFill>
                  <a:srgbClr val="6A3FB0"/>
                </a:solidFill>
                <a:latin typeface="Courier New" pitchFamily="34" charset="0"/>
                <a:ea typeface="Courier New" pitchFamily="34" charset="-122"/>
                <a:cs typeface="Courier New" pitchFamily="34" charset="-120"/>
              </a:rPr>
              <a:t>01</a:t>
            </a:r>
            <a:endParaRPr lang="en-US" sz="1800" dirty="0"/>
          </a:p>
        </p:txBody>
      </p:sp>
      <p:sp>
        <p:nvSpPr>
          <p:cNvPr id="7" name="Text 5"/>
          <p:cNvSpPr/>
          <p:nvPr/>
        </p:nvSpPr>
        <p:spPr>
          <a:xfrm>
            <a:off x="1188720" y="4011216"/>
            <a:ext cx="2692683" cy="655320"/>
          </a:xfrm>
          <a:prstGeom prst="rect">
            <a:avLst/>
          </a:prstGeom>
          <a:noFill/>
          <a:ln/>
        </p:spPr>
        <p:txBody>
          <a:bodyPr wrap="square" lIns="25400" tIns="25400" rIns="25400" bIns="25400" rtlCol="0" anchor="t">
            <a:normAutofit/>
          </a:bodyPr>
          <a:lstStyle/>
          <a:p>
            <a:pPr algn="l" indent="0" marL="0">
              <a:lnSpc>
                <a:spcPct val="135000"/>
              </a:lnSpc>
              <a:buNone/>
            </a:pPr>
            <a:r>
              <a:rPr lang="en-US" sz="1800" dirty="0">
                <a:solidFill>
                  <a:srgbClr val="45424B"/>
                </a:solidFill>
                <a:latin typeface="Arial" pitchFamily="34" charset="0"/>
                <a:ea typeface="Arial" pitchFamily="34" charset="-122"/>
                <a:cs typeface="Arial" pitchFamily="34" charset="-120"/>
              </a:rPr>
              <a:t>Podijeli sliku na 45 krpica — superpiksela (SLIC)</a:t>
            </a:r>
            <a:endParaRPr lang="en-US" sz="1800" dirty="0"/>
          </a:p>
        </p:txBody>
      </p:sp>
      <p:sp>
        <p:nvSpPr>
          <p:cNvPr id="8" name="Shape 6"/>
          <p:cNvSpPr/>
          <p:nvPr/>
        </p:nvSpPr>
        <p:spPr>
          <a:xfrm>
            <a:off x="4172545" y="3382566"/>
            <a:ext cx="3086814" cy="1482090"/>
          </a:xfrm>
          <a:prstGeom prst="roundRect">
            <a:avLst>
              <a:gd name="adj" fmla="val 7712"/>
            </a:avLst>
          </a:prstGeom>
          <a:solidFill>
            <a:srgbClr val="FFFFFF"/>
          </a:solidFill>
          <a:ln w="7620">
            <a:solidFill>
              <a:srgbClr val="E7E2D7"/>
            </a:solidFill>
            <a:prstDash val="solid"/>
          </a:ln>
        </p:spPr>
      </p:sp>
      <p:sp>
        <p:nvSpPr>
          <p:cNvPr id="9" name="Text 7"/>
          <p:cNvSpPr/>
          <p:nvPr/>
        </p:nvSpPr>
        <p:spPr>
          <a:xfrm>
            <a:off x="4408765" y="3618786"/>
            <a:ext cx="2875812" cy="335280"/>
          </a:xfrm>
          <a:prstGeom prst="rect">
            <a:avLst/>
          </a:prstGeom>
          <a:noFill/>
          <a:ln/>
        </p:spPr>
        <p:txBody>
          <a:bodyPr wrap="square" lIns="25400" tIns="25400" rIns="25400" bIns="25400" rtlCol="0" anchor="t">
            <a:normAutofit/>
          </a:bodyPr>
          <a:lstStyle/>
          <a:p>
            <a:pPr algn="l" indent="0" marL="0">
              <a:buNone/>
            </a:pPr>
            <a:r>
              <a:rPr lang="en-US" sz="1800" dirty="0">
                <a:solidFill>
                  <a:srgbClr val="6A3FB0"/>
                </a:solidFill>
                <a:latin typeface="Courier New" pitchFamily="34" charset="0"/>
                <a:ea typeface="Courier New" pitchFamily="34" charset="-122"/>
                <a:cs typeface="Courier New" pitchFamily="34" charset="-120"/>
              </a:rPr>
              <a:t>02</a:t>
            </a:r>
            <a:endParaRPr lang="en-US" sz="1800" dirty="0"/>
          </a:p>
        </p:txBody>
      </p:sp>
      <p:sp>
        <p:nvSpPr>
          <p:cNvPr id="10" name="Text 8"/>
          <p:cNvSpPr/>
          <p:nvPr/>
        </p:nvSpPr>
        <p:spPr>
          <a:xfrm>
            <a:off x="4408765" y="4011216"/>
            <a:ext cx="2692806" cy="655320"/>
          </a:xfrm>
          <a:prstGeom prst="rect">
            <a:avLst/>
          </a:prstGeom>
          <a:noFill/>
          <a:ln/>
        </p:spPr>
        <p:txBody>
          <a:bodyPr wrap="square" lIns="25400" tIns="25400" rIns="25400" bIns="25400" rtlCol="0" anchor="t">
            <a:normAutofit/>
          </a:bodyPr>
          <a:lstStyle/>
          <a:p>
            <a:pPr algn="l" indent="0" marL="0">
              <a:lnSpc>
                <a:spcPct val="135000"/>
              </a:lnSpc>
              <a:buNone/>
            </a:pPr>
            <a:r>
              <a:rPr lang="en-US" sz="1800" dirty="0">
                <a:solidFill>
                  <a:srgbClr val="45424B"/>
                </a:solidFill>
                <a:latin typeface="Arial" pitchFamily="34" charset="0"/>
                <a:ea typeface="Arial" pitchFamily="34" charset="-122"/>
                <a:cs typeface="Arial" pitchFamily="34" charset="-120"/>
              </a:rPr>
              <a:t>Napravi 900 verzija s ugašenim krpicama</a:t>
            </a:r>
            <a:endParaRPr lang="en-US" sz="1800" dirty="0"/>
          </a:p>
        </p:txBody>
      </p:sp>
      <p:sp>
        <p:nvSpPr>
          <p:cNvPr id="11" name="Shape 9"/>
          <p:cNvSpPr/>
          <p:nvPr/>
        </p:nvSpPr>
        <p:spPr>
          <a:xfrm>
            <a:off x="7392710" y="3382566"/>
            <a:ext cx="3086695" cy="1482090"/>
          </a:xfrm>
          <a:prstGeom prst="roundRect">
            <a:avLst>
              <a:gd name="adj" fmla="val 7712"/>
            </a:avLst>
          </a:prstGeom>
          <a:solidFill>
            <a:srgbClr val="FFFFFF"/>
          </a:solidFill>
          <a:ln w="7620">
            <a:solidFill>
              <a:srgbClr val="E7E2D7"/>
            </a:solidFill>
            <a:prstDash val="solid"/>
          </a:ln>
        </p:spPr>
      </p:sp>
      <p:sp>
        <p:nvSpPr>
          <p:cNvPr id="12" name="Text 10"/>
          <p:cNvSpPr/>
          <p:nvPr/>
        </p:nvSpPr>
        <p:spPr>
          <a:xfrm>
            <a:off x="7628930" y="3618786"/>
            <a:ext cx="2875681" cy="335280"/>
          </a:xfrm>
          <a:prstGeom prst="rect">
            <a:avLst/>
          </a:prstGeom>
          <a:noFill/>
          <a:ln/>
        </p:spPr>
        <p:txBody>
          <a:bodyPr wrap="square" lIns="25400" tIns="25400" rIns="25400" bIns="25400" rtlCol="0" anchor="t">
            <a:normAutofit/>
          </a:bodyPr>
          <a:lstStyle/>
          <a:p>
            <a:pPr algn="l" indent="0" marL="0">
              <a:buNone/>
            </a:pPr>
            <a:r>
              <a:rPr lang="en-US" sz="1800" dirty="0">
                <a:solidFill>
                  <a:srgbClr val="6A3FB0"/>
                </a:solidFill>
                <a:latin typeface="Courier New" pitchFamily="34" charset="0"/>
                <a:ea typeface="Courier New" pitchFamily="34" charset="-122"/>
                <a:cs typeface="Courier New" pitchFamily="34" charset="-120"/>
              </a:rPr>
              <a:t>03</a:t>
            </a:r>
            <a:endParaRPr lang="en-US" sz="1800" dirty="0"/>
          </a:p>
        </p:txBody>
      </p:sp>
      <p:sp>
        <p:nvSpPr>
          <p:cNvPr id="13" name="Text 11"/>
          <p:cNvSpPr/>
          <p:nvPr/>
        </p:nvSpPr>
        <p:spPr>
          <a:xfrm>
            <a:off x="7628930" y="4011216"/>
            <a:ext cx="2692683" cy="655320"/>
          </a:xfrm>
          <a:prstGeom prst="rect">
            <a:avLst/>
          </a:prstGeom>
          <a:noFill/>
          <a:ln/>
        </p:spPr>
        <p:txBody>
          <a:bodyPr wrap="square" lIns="25400" tIns="25400" rIns="25400" bIns="25400" rtlCol="0" anchor="t">
            <a:normAutofit/>
          </a:bodyPr>
          <a:lstStyle/>
          <a:p>
            <a:pPr algn="l" indent="0" marL="0">
              <a:lnSpc>
                <a:spcPct val="135000"/>
              </a:lnSpc>
              <a:buNone/>
            </a:pPr>
            <a:r>
              <a:rPr lang="en-US" sz="1800" dirty="0">
                <a:solidFill>
                  <a:srgbClr val="45424B"/>
                </a:solidFill>
                <a:latin typeface="Arial" pitchFamily="34" charset="0"/>
                <a:ea typeface="Arial" pitchFamily="34" charset="-122"/>
                <a:cs typeface="Arial" pitchFamily="34" charset="-120"/>
              </a:rPr>
              <a:t>Prosti model otkrije koje krpice nose predikciju</a:t>
            </a:r>
            <a:endParaRPr lang="en-US" sz="1800" dirty="0"/>
          </a:p>
        </p:txBody>
      </p:sp>
      <p:sp>
        <p:nvSpPr>
          <p:cNvPr id="14" name="Shape 12"/>
          <p:cNvSpPr/>
          <p:nvPr/>
        </p:nvSpPr>
        <p:spPr>
          <a:xfrm>
            <a:off x="952500" y="5055156"/>
            <a:ext cx="9526905" cy="1226820"/>
          </a:xfrm>
          <a:prstGeom prst="roundRect">
            <a:avLst>
              <a:gd name="adj" fmla="val 9317"/>
            </a:avLst>
          </a:prstGeom>
          <a:solidFill>
            <a:srgbClr val="221F29"/>
          </a:solidFill>
          <a:ln/>
        </p:spPr>
      </p:sp>
      <p:sp>
        <p:nvSpPr>
          <p:cNvPr id="15" name="Text 13"/>
          <p:cNvSpPr/>
          <p:nvPr/>
        </p:nvSpPr>
        <p:spPr>
          <a:xfrm>
            <a:off x="1238250" y="5302806"/>
            <a:ext cx="9850946" cy="358140"/>
          </a:xfrm>
          <a:prstGeom prst="rect">
            <a:avLst/>
          </a:prstGeom>
          <a:noFill/>
          <a:ln/>
        </p:spPr>
        <p:txBody>
          <a:bodyPr wrap="square" lIns="25400" tIns="25400" rIns="25400" bIns="25400" rtlCol="0" anchor="t">
            <a:normAutofit/>
          </a:bodyPr>
          <a:lstStyle/>
          <a:p>
            <a:pPr algn="l" indent="0" marL="0">
              <a:buNone/>
            </a:pPr>
            <a:r>
              <a:rPr lang="en-US" sz="1875" dirty="0">
                <a:solidFill>
                  <a:srgbClr val="B79AEC"/>
                </a:solidFill>
                <a:latin typeface="Courier New" pitchFamily="34" charset="0"/>
                <a:ea typeface="Courier New" pitchFamily="34" charset="-122"/>
                <a:cs typeface="Courier New" pitchFamily="34" charset="-120"/>
              </a:rPr>
              <a:t>g* </a:t>
            </a:r>
            <a:pPr algn="l" indent="0" marL="0">
              <a:buNone/>
            </a:pPr>
            <a:r>
              <a:rPr lang="en-US" sz="1875" dirty="0">
                <a:solidFill>
                  <a:srgbClr val="E9E4F3"/>
                </a:solidFill>
                <a:latin typeface="Courier New" pitchFamily="34" charset="0"/>
                <a:ea typeface="Courier New" pitchFamily="34" charset="-122"/>
                <a:cs typeface="Courier New" pitchFamily="34" charset="-120"/>
              </a:rPr>
              <a:t>= argmin L(f, g, πₓ) + Ω(g) , g ∈ linearni modeli</a:t>
            </a:r>
            <a:endParaRPr lang="en-US" sz="1875" dirty="0"/>
          </a:p>
        </p:txBody>
      </p:sp>
      <p:sp>
        <p:nvSpPr>
          <p:cNvPr id="16" name="Text 14"/>
          <p:cNvSpPr/>
          <p:nvPr/>
        </p:nvSpPr>
        <p:spPr>
          <a:xfrm>
            <a:off x="1238250" y="5737146"/>
            <a:ext cx="9850946" cy="335280"/>
          </a:xfrm>
          <a:prstGeom prst="rect">
            <a:avLst/>
          </a:prstGeom>
          <a:noFill/>
          <a:ln/>
        </p:spPr>
        <p:txBody>
          <a:bodyPr wrap="square" lIns="25400" tIns="25400" rIns="25400" bIns="25400" rtlCol="0" anchor="t">
            <a:normAutofit/>
          </a:bodyPr>
          <a:lstStyle/>
          <a:p>
            <a:pPr algn="l" indent="0" marL="0">
              <a:buNone/>
            </a:pPr>
            <a:r>
              <a:rPr lang="en-US" sz="1800" dirty="0">
                <a:solidFill>
                  <a:srgbClr val="9A8FC4"/>
                </a:solidFill>
                <a:latin typeface="Courier New" pitchFamily="34" charset="0"/>
                <a:ea typeface="Courier New" pitchFamily="34" charset="-122"/>
                <a:cs typeface="Courier New" pitchFamily="34" charset="-120"/>
              </a:rPr>
              <a:t>čita se: najjednostavniji model koji lokalno oponaša mrežu.</a:t>
            </a:r>
            <a:endParaRPr lang="en-US" sz="1800" dirty="0"/>
          </a:p>
        </p:txBody>
      </p:sp>
      <p:sp>
        <p:nvSpPr>
          <p:cNvPr id="17" name="Shape 15"/>
          <p:cNvSpPr/>
          <p:nvPr/>
        </p:nvSpPr>
        <p:spPr>
          <a:xfrm>
            <a:off x="10765156" y="2000250"/>
            <a:ext cx="6570345" cy="3310890"/>
          </a:xfrm>
          <a:prstGeom prst="roundRect">
            <a:avLst>
              <a:gd name="adj" fmla="val 3452"/>
            </a:avLst>
          </a:prstGeom>
          <a:solidFill>
            <a:srgbClr val="EEF6F0"/>
          </a:solidFill>
          <a:ln w="7620">
            <a:solidFill>
              <a:srgbClr val="CFE6D6"/>
            </a:solidFill>
            <a:prstDash val="solid"/>
          </a:ln>
        </p:spPr>
      </p:sp>
      <p:sp>
        <p:nvSpPr>
          <p:cNvPr id="18" name="Text 16"/>
          <p:cNvSpPr/>
          <p:nvPr/>
        </p:nvSpPr>
        <p:spPr>
          <a:xfrm>
            <a:off x="11096625" y="2293620"/>
            <a:ext cx="6498146" cy="33528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3F7D54"/>
                </a:solidFill>
                <a:latin typeface="Courier New" pitchFamily="34" charset="0"/>
                <a:ea typeface="Courier New" pitchFamily="34" charset="-122"/>
                <a:cs typeface="Courier New" pitchFamily="34" charset="-120"/>
              </a:rPr>
              <a:t>PREDNOST</a:t>
            </a:r>
            <a:endParaRPr lang="en-US" sz="1800" dirty="0"/>
          </a:p>
        </p:txBody>
      </p:sp>
      <p:sp>
        <p:nvSpPr>
          <p:cNvPr id="19" name="Text 17"/>
          <p:cNvSpPr/>
          <p:nvPr/>
        </p:nvSpPr>
        <p:spPr>
          <a:xfrm>
            <a:off x="11096625" y="2724150"/>
            <a:ext cx="6084627" cy="731520"/>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2C4A37"/>
                </a:solidFill>
                <a:latin typeface="Arial" pitchFamily="34" charset="0"/>
                <a:ea typeface="Arial" pitchFamily="34" charset="-122"/>
                <a:cs typeface="Arial" pitchFamily="34" charset="-120"/>
              </a:rPr>
              <a:t>Model-agnostična; žute konture jasno izdvajaju konkretne regije, pa je objašnjenje lokalno i čitljivo.</a:t>
            </a:r>
            <a:endParaRPr lang="en-US" sz="1950" dirty="0"/>
          </a:p>
        </p:txBody>
      </p:sp>
      <p:sp>
        <p:nvSpPr>
          <p:cNvPr id="20" name="Shape 18"/>
          <p:cNvSpPr/>
          <p:nvPr/>
        </p:nvSpPr>
        <p:spPr>
          <a:xfrm>
            <a:off x="10765156" y="5463540"/>
            <a:ext cx="6570345" cy="3310890"/>
          </a:xfrm>
          <a:prstGeom prst="roundRect">
            <a:avLst>
              <a:gd name="adj" fmla="val 3452"/>
            </a:avLst>
          </a:prstGeom>
          <a:solidFill>
            <a:srgbClr val="F9EFE9"/>
          </a:solidFill>
          <a:ln w="7620">
            <a:solidFill>
              <a:srgbClr val="ECD4C8"/>
            </a:solidFill>
            <a:prstDash val="solid"/>
          </a:ln>
        </p:spPr>
      </p:sp>
      <p:sp>
        <p:nvSpPr>
          <p:cNvPr id="21" name="Text 19"/>
          <p:cNvSpPr/>
          <p:nvPr/>
        </p:nvSpPr>
        <p:spPr>
          <a:xfrm>
            <a:off x="11096625" y="5756910"/>
            <a:ext cx="6498146" cy="33528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A85A3C"/>
                </a:solidFill>
                <a:latin typeface="Courier New" pitchFamily="34" charset="0"/>
                <a:ea typeface="Courier New" pitchFamily="34" charset="-122"/>
                <a:cs typeface="Courier New" pitchFamily="34" charset="-120"/>
              </a:rPr>
              <a:t>MANA</a:t>
            </a:r>
            <a:endParaRPr lang="en-US" sz="1800" dirty="0"/>
          </a:p>
        </p:txBody>
      </p:sp>
      <p:sp>
        <p:nvSpPr>
          <p:cNvPr id="22" name="Text 20"/>
          <p:cNvSpPr/>
          <p:nvPr/>
        </p:nvSpPr>
        <p:spPr>
          <a:xfrm>
            <a:off x="11096625" y="6187440"/>
            <a:ext cx="6084627" cy="731520"/>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7A4730"/>
                </a:solidFill>
                <a:latin typeface="Arial" pitchFamily="34" charset="0"/>
                <a:ea typeface="Arial" pitchFamily="34" charset="-122"/>
                <a:cs typeface="Arial" pitchFamily="34" charset="-120"/>
              </a:rPr>
              <a:t>Nestabilnost — nasumične perturbacije i izbor segmentacije mijenjaju rezultat između pokretanja.</a:t>
            </a:r>
            <a:endParaRPr lang="en-US" sz="1950" dirty="0"/>
          </a:p>
        </p:txBody>
      </p:sp>
      <p:sp>
        <p:nvSpPr>
          <p:cNvPr id="23" name="Shape 21"/>
          <p:cNvSpPr/>
          <p:nvPr/>
        </p:nvSpPr>
        <p:spPr>
          <a:xfrm>
            <a:off x="10765156" y="8926830"/>
            <a:ext cx="6570345" cy="617220"/>
          </a:xfrm>
          <a:prstGeom prst="roundRect">
            <a:avLst>
              <a:gd name="adj" fmla="val 15432"/>
            </a:avLst>
          </a:prstGeom>
          <a:solidFill>
            <a:srgbClr val="FFFFFF"/>
          </a:solidFill>
          <a:ln w="7620">
            <a:solidFill>
              <a:srgbClr val="E7E2D7"/>
            </a:solidFill>
            <a:prstDash val="solid"/>
          </a:ln>
        </p:spPr>
      </p:sp>
      <p:sp>
        <p:nvSpPr>
          <p:cNvPr id="24" name="Text 22"/>
          <p:cNvSpPr/>
          <p:nvPr/>
        </p:nvSpPr>
        <p:spPr>
          <a:xfrm>
            <a:off x="10982326" y="9086850"/>
            <a:ext cx="6333115" cy="335280"/>
          </a:xfrm>
          <a:prstGeom prst="rect">
            <a:avLst/>
          </a:prstGeom>
          <a:noFill/>
          <a:ln/>
        </p:spPr>
        <p:txBody>
          <a:bodyPr wrap="square" lIns="25400" tIns="25400" rIns="25400" bIns="25400" rtlCol="0" anchor="t">
            <a:normAutofit/>
          </a:bodyPr>
          <a:lstStyle/>
          <a:p>
            <a:pPr algn="l" indent="0" marL="0">
              <a:buNone/>
            </a:pPr>
            <a:r>
              <a:rPr lang="en-US" sz="1800" dirty="0">
                <a:solidFill>
                  <a:srgbClr val="6F6B63"/>
                </a:solidFill>
                <a:latin typeface="Courier New" pitchFamily="34" charset="0"/>
                <a:ea typeface="Courier New" pitchFamily="34" charset="-122"/>
                <a:cs typeface="Courier New" pitchFamily="34" charset="-120"/>
              </a:rPr>
              <a:t>u radu: 45 superpiksela · 900 pert. · top 6</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952500" y="742950"/>
            <a:ext cx="18021300" cy="33528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A3FB0"/>
                </a:solidFill>
                <a:latin typeface="Courier New" pitchFamily="34" charset="0"/>
                <a:ea typeface="Courier New" pitchFamily="34" charset="-122"/>
                <a:cs typeface="Courier New" pitchFamily="34" charset="-120"/>
              </a:rPr>
              <a:t>04D · PERTURBACIJSKA METODA · SAMO TEORIJSKI</a:t>
            </a:r>
            <a:endParaRPr lang="en-US" sz="1800" dirty="0"/>
          </a:p>
        </p:txBody>
      </p:sp>
      <p:sp>
        <p:nvSpPr>
          <p:cNvPr id="3" name="Text 1"/>
          <p:cNvSpPr/>
          <p:nvPr/>
        </p:nvSpPr>
        <p:spPr>
          <a:xfrm>
            <a:off x="952500" y="1154430"/>
            <a:ext cx="18021300" cy="598170"/>
          </a:xfrm>
          <a:prstGeom prst="rect">
            <a:avLst/>
          </a:prstGeom>
          <a:noFill/>
          <a:ln/>
        </p:spPr>
        <p:txBody>
          <a:bodyPr wrap="square" lIns="25400" tIns="25400" rIns="25400" bIns="25400" rtlCol="0" anchor="t">
            <a:normAutofit/>
          </a:bodyPr>
          <a:lstStyle/>
          <a:p>
            <a:pPr algn="l" indent="0" marL="0">
              <a:lnSpc>
                <a:spcPct val="105000"/>
              </a:lnSpc>
              <a:buNone/>
            </a:pPr>
            <a:r>
              <a:rPr lang="en-US" sz="4200" b="1" spc="-42" kern="0" dirty="0">
                <a:solidFill>
                  <a:srgbClr val="221F29"/>
                </a:solidFill>
                <a:latin typeface="Georgia" pitchFamily="34" charset="0"/>
                <a:ea typeface="Georgia" pitchFamily="34" charset="-122"/>
                <a:cs typeface="Georgia" pitchFamily="34" charset="-120"/>
              </a:rPr>
              <a:t>SHAP — Shapley vrijednosti iz teorije igara</a:t>
            </a:r>
            <a:endParaRPr lang="en-US" sz="4200" dirty="0"/>
          </a:p>
        </p:txBody>
      </p:sp>
      <p:sp>
        <p:nvSpPr>
          <p:cNvPr id="4" name="Text 2"/>
          <p:cNvSpPr/>
          <p:nvPr/>
        </p:nvSpPr>
        <p:spPr>
          <a:xfrm>
            <a:off x="952500" y="2000250"/>
            <a:ext cx="9812712" cy="1622108"/>
          </a:xfrm>
          <a:prstGeom prst="rect">
            <a:avLst/>
          </a:prstGeom>
          <a:noFill/>
          <a:ln/>
        </p:spPr>
        <p:txBody>
          <a:bodyPr wrap="square" lIns="25400" tIns="25400" rIns="25400" bIns="25400" rtlCol="0" anchor="t">
            <a:normAutofit/>
          </a:bodyPr>
          <a:lstStyle/>
          <a:p>
            <a:pPr algn="l" indent="0" marL="0">
              <a:lnSpc>
                <a:spcPct val="142000"/>
              </a:lnSpc>
              <a:buNone/>
            </a:pPr>
            <a:r>
              <a:rPr lang="en-US" sz="2175" b="1" dirty="0">
                <a:solidFill>
                  <a:srgbClr val="5A2FA0"/>
                </a:solidFill>
                <a:latin typeface="Georgia" pitchFamily="34" charset="0"/>
                <a:ea typeface="Georgia" pitchFamily="34" charset="-122"/>
                <a:cs typeface="Georgia" pitchFamily="34" charset="-120"/>
              </a:rPr>
              <a:t>U suštini: </a:t>
            </a:r>
            <a:pPr algn="l" indent="0" marL="0">
              <a:lnSpc>
                <a:spcPct val="142000"/>
              </a:lnSpc>
              <a:buNone/>
            </a:pPr>
            <a:r>
              <a:rPr lang="en-US" sz="2175" dirty="0">
                <a:solidFill>
                  <a:srgbClr val="45424B"/>
                </a:solidFill>
                <a:latin typeface="Arial" pitchFamily="34" charset="0"/>
                <a:ea typeface="Arial" pitchFamily="34" charset="-122"/>
                <a:cs typeface="Arial" pitchFamily="34" charset="-120"/>
              </a:rPr>
              <a:t>SHAP posuđuje ideju o poštenoj podjeli zarade iz teorije igara. Pikseli su „igrači", predikcija je „zajednička zarada", a vrijednost piksela je njegov </a:t>
            </a:r>
            <a:pPr algn="l" indent="0" marL="0">
              <a:lnSpc>
                <a:spcPct val="142000"/>
              </a:lnSpc>
              <a:buNone/>
            </a:pPr>
            <a:r>
              <a:rPr lang="en-US" sz="2175" b="1" dirty="0">
                <a:solidFill>
                  <a:srgbClr val="221F29"/>
                </a:solidFill>
                <a:latin typeface="Arial" pitchFamily="34" charset="0"/>
                <a:ea typeface="Arial" pitchFamily="34" charset="-122"/>
                <a:cs typeface="Arial" pitchFamily="34" charset="-120"/>
              </a:rPr>
              <a:t>pošten udio </a:t>
            </a:r>
            <a:pPr algn="l" indent="0" marL="0">
              <a:lnSpc>
                <a:spcPct val="142000"/>
              </a:lnSpc>
              <a:buNone/>
            </a:pPr>
            <a:r>
              <a:rPr lang="en-US" sz="2175" dirty="0">
                <a:solidFill>
                  <a:srgbClr val="45424B"/>
                </a:solidFill>
                <a:latin typeface="Arial" pitchFamily="34" charset="0"/>
                <a:ea typeface="Arial" pitchFamily="34" charset="-122"/>
                <a:cs typeface="Arial" pitchFamily="34" charset="-120"/>
              </a:rPr>
              <a:t>— koliko prosječno doda kad mu se pridruže razne kombinacije ostalih piksela.</a:t>
            </a:r>
            <a:endParaRPr lang="en-US" sz="2175" dirty="0"/>
          </a:p>
        </p:txBody>
      </p:sp>
      <p:sp>
        <p:nvSpPr>
          <p:cNvPr id="5" name="Shape 3"/>
          <p:cNvSpPr/>
          <p:nvPr/>
        </p:nvSpPr>
        <p:spPr>
          <a:xfrm>
            <a:off x="952500" y="3774758"/>
            <a:ext cx="9526905" cy="1219200"/>
          </a:xfrm>
          <a:prstGeom prst="roundRect">
            <a:avLst>
              <a:gd name="adj" fmla="val 9375"/>
            </a:avLst>
          </a:prstGeom>
          <a:solidFill>
            <a:srgbClr val="221F29"/>
          </a:solidFill>
          <a:ln/>
        </p:spPr>
      </p:sp>
      <p:sp>
        <p:nvSpPr>
          <p:cNvPr id="6" name="Text 4"/>
          <p:cNvSpPr/>
          <p:nvPr/>
        </p:nvSpPr>
        <p:spPr>
          <a:xfrm>
            <a:off x="1238250" y="4022408"/>
            <a:ext cx="9850946" cy="350520"/>
          </a:xfrm>
          <a:prstGeom prst="rect">
            <a:avLst/>
          </a:prstGeom>
          <a:noFill/>
          <a:ln/>
        </p:spPr>
        <p:txBody>
          <a:bodyPr wrap="square" lIns="25400" tIns="25400" rIns="25400" bIns="25400" rtlCol="0" anchor="t">
            <a:normAutofit/>
          </a:bodyPr>
          <a:lstStyle/>
          <a:p>
            <a:pPr algn="l" indent="0" marL="0">
              <a:buNone/>
            </a:pPr>
            <a:r>
              <a:rPr lang="en-US" sz="1800" dirty="0">
                <a:solidFill>
                  <a:srgbClr val="B79AEC"/>
                </a:solidFill>
                <a:latin typeface="Courier New" pitchFamily="34" charset="0"/>
                <a:ea typeface="Courier New" pitchFamily="34" charset="-122"/>
                <a:cs typeface="Courier New" pitchFamily="34" charset="-120"/>
              </a:rPr>
              <a:t>φᵢ </a:t>
            </a:r>
            <a:pPr algn="l" indent="0" marL="0">
              <a:buNone/>
            </a:pPr>
            <a:r>
              <a:rPr lang="en-US" sz="1800" dirty="0">
                <a:solidFill>
                  <a:srgbClr val="E9E4F3"/>
                </a:solidFill>
                <a:latin typeface="Courier New" pitchFamily="34" charset="0"/>
                <a:ea typeface="Courier New" pitchFamily="34" charset="-122"/>
                <a:cs typeface="Courier New" pitchFamily="34" charset="-120"/>
              </a:rPr>
              <a:t>= Σ [ |S|!(|F|−|S|−1)! / |F|! ] · ( f(S∪{i}) − f(S) )</a:t>
            </a:r>
            <a:endParaRPr lang="en-US" sz="1800" dirty="0"/>
          </a:p>
        </p:txBody>
      </p:sp>
      <p:sp>
        <p:nvSpPr>
          <p:cNvPr id="7" name="Text 5"/>
          <p:cNvSpPr/>
          <p:nvPr/>
        </p:nvSpPr>
        <p:spPr>
          <a:xfrm>
            <a:off x="1238250" y="4449128"/>
            <a:ext cx="9850946" cy="335280"/>
          </a:xfrm>
          <a:prstGeom prst="rect">
            <a:avLst/>
          </a:prstGeom>
          <a:noFill/>
          <a:ln/>
        </p:spPr>
        <p:txBody>
          <a:bodyPr wrap="square" lIns="25400" tIns="25400" rIns="25400" bIns="25400" rtlCol="0" anchor="t">
            <a:normAutofit/>
          </a:bodyPr>
          <a:lstStyle/>
          <a:p>
            <a:pPr algn="l" indent="0" marL="0">
              <a:buNone/>
            </a:pPr>
            <a:r>
              <a:rPr lang="en-US" sz="1800" dirty="0">
                <a:solidFill>
                  <a:srgbClr val="9A8FC4"/>
                </a:solidFill>
                <a:latin typeface="Courier New" pitchFamily="34" charset="0"/>
                <a:ea typeface="Courier New" pitchFamily="34" charset="-122"/>
                <a:cs typeface="Courier New" pitchFamily="34" charset="-120"/>
              </a:rPr>
              <a:t>čita se: prosječan doprinos piksela kroz sve kombinacije ostalih.</a:t>
            </a:r>
            <a:endParaRPr lang="en-US" sz="1800" dirty="0"/>
          </a:p>
        </p:txBody>
      </p:sp>
      <p:sp>
        <p:nvSpPr>
          <p:cNvPr id="8" name="Shape 6"/>
          <p:cNvSpPr/>
          <p:nvPr/>
        </p:nvSpPr>
        <p:spPr>
          <a:xfrm>
            <a:off x="952500" y="5184457"/>
            <a:ext cx="9526905" cy="1520190"/>
          </a:xfrm>
          <a:prstGeom prst="roundRect">
            <a:avLst>
              <a:gd name="adj" fmla="val 7519"/>
            </a:avLst>
          </a:prstGeom>
          <a:solidFill>
            <a:srgbClr val="FFFFFF"/>
          </a:solidFill>
          <a:ln w="7620">
            <a:solidFill>
              <a:srgbClr val="E7E2D7"/>
            </a:solidFill>
            <a:prstDash val="solid"/>
          </a:ln>
        </p:spPr>
      </p:sp>
      <p:sp>
        <p:nvSpPr>
          <p:cNvPr id="9" name="Text 7"/>
          <p:cNvSpPr/>
          <p:nvPr/>
        </p:nvSpPr>
        <p:spPr>
          <a:xfrm>
            <a:off x="1264920" y="5458778"/>
            <a:ext cx="9792272" cy="33528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F6B63"/>
                </a:solidFill>
                <a:latin typeface="Courier New" pitchFamily="34" charset="0"/>
                <a:ea typeface="Courier New" pitchFamily="34" charset="-122"/>
                <a:cs typeface="Courier New" pitchFamily="34" charset="-120"/>
              </a:rPr>
              <a:t>ČETIRI ZAGARANTOVANA SVOJSTVA</a:t>
            </a:r>
            <a:endParaRPr lang="en-US" sz="1800" dirty="0"/>
          </a:p>
        </p:txBody>
      </p:sp>
      <p:sp>
        <p:nvSpPr>
          <p:cNvPr id="10" name="Shape 8"/>
          <p:cNvSpPr/>
          <p:nvPr/>
        </p:nvSpPr>
        <p:spPr>
          <a:xfrm>
            <a:off x="1264920" y="5908357"/>
            <a:ext cx="1729740" cy="521970"/>
          </a:xfrm>
          <a:prstGeom prst="roundRect">
            <a:avLst>
              <a:gd name="adj" fmla="val 50000"/>
            </a:avLst>
          </a:prstGeom>
          <a:solidFill>
            <a:srgbClr val="F4F1EA"/>
          </a:solidFill>
          <a:ln w="7620">
            <a:solidFill>
              <a:srgbClr val="E7E2D7"/>
            </a:solidFill>
            <a:prstDash val="solid"/>
          </a:ln>
        </p:spPr>
      </p:sp>
      <p:sp>
        <p:nvSpPr>
          <p:cNvPr id="11" name="Text 9"/>
          <p:cNvSpPr/>
          <p:nvPr/>
        </p:nvSpPr>
        <p:spPr>
          <a:xfrm>
            <a:off x="1443990" y="6020752"/>
            <a:ext cx="1447800" cy="335280"/>
          </a:xfrm>
          <a:prstGeom prst="rect">
            <a:avLst/>
          </a:prstGeom>
          <a:noFill/>
          <a:ln/>
        </p:spPr>
        <p:txBody>
          <a:bodyPr wrap="square" lIns="25400" tIns="25400" rIns="25400" bIns="25400" rtlCol="0" anchor="t">
            <a:normAutofit/>
          </a:bodyPr>
          <a:lstStyle/>
          <a:p>
            <a:pPr algn="l" indent="0" marL="0">
              <a:buNone/>
            </a:pPr>
            <a:r>
              <a:rPr lang="en-US" sz="1800" dirty="0">
                <a:solidFill>
                  <a:srgbClr val="221F29"/>
                </a:solidFill>
                <a:latin typeface="Courier New" pitchFamily="34" charset="0"/>
                <a:ea typeface="Courier New" pitchFamily="34" charset="-122"/>
                <a:cs typeface="Courier New" pitchFamily="34" charset="-120"/>
              </a:rPr>
              <a:t>efikasnost</a:t>
            </a:r>
            <a:endParaRPr lang="en-US" sz="1800" dirty="0"/>
          </a:p>
        </p:txBody>
      </p:sp>
      <p:sp>
        <p:nvSpPr>
          <p:cNvPr id="12" name="Shape 10"/>
          <p:cNvSpPr/>
          <p:nvPr/>
        </p:nvSpPr>
        <p:spPr>
          <a:xfrm>
            <a:off x="3108960" y="5908357"/>
            <a:ext cx="1592580" cy="521970"/>
          </a:xfrm>
          <a:prstGeom prst="roundRect">
            <a:avLst>
              <a:gd name="adj" fmla="val 50000"/>
            </a:avLst>
          </a:prstGeom>
          <a:solidFill>
            <a:srgbClr val="F4F1EA"/>
          </a:solidFill>
          <a:ln w="7620">
            <a:solidFill>
              <a:srgbClr val="E7E2D7"/>
            </a:solidFill>
            <a:prstDash val="solid"/>
          </a:ln>
        </p:spPr>
      </p:sp>
      <p:sp>
        <p:nvSpPr>
          <p:cNvPr id="13" name="Text 11"/>
          <p:cNvSpPr/>
          <p:nvPr/>
        </p:nvSpPr>
        <p:spPr>
          <a:xfrm>
            <a:off x="3288030" y="6020752"/>
            <a:ext cx="1310640" cy="335280"/>
          </a:xfrm>
          <a:prstGeom prst="rect">
            <a:avLst/>
          </a:prstGeom>
          <a:noFill/>
          <a:ln/>
        </p:spPr>
        <p:txBody>
          <a:bodyPr wrap="square" lIns="25400" tIns="25400" rIns="25400" bIns="25400" rtlCol="0" anchor="t">
            <a:normAutofit/>
          </a:bodyPr>
          <a:lstStyle/>
          <a:p>
            <a:pPr algn="l" indent="0" marL="0">
              <a:buNone/>
            </a:pPr>
            <a:r>
              <a:rPr lang="en-US" sz="1800" dirty="0">
                <a:solidFill>
                  <a:srgbClr val="221F29"/>
                </a:solidFill>
                <a:latin typeface="Courier New" pitchFamily="34" charset="0"/>
                <a:ea typeface="Courier New" pitchFamily="34" charset="-122"/>
                <a:cs typeface="Courier New" pitchFamily="34" charset="-120"/>
              </a:rPr>
              <a:t>simetrija</a:t>
            </a:r>
            <a:endParaRPr lang="en-US" sz="1800" dirty="0"/>
          </a:p>
        </p:txBody>
      </p:sp>
      <p:sp>
        <p:nvSpPr>
          <p:cNvPr id="14" name="Shape 12"/>
          <p:cNvSpPr/>
          <p:nvPr/>
        </p:nvSpPr>
        <p:spPr>
          <a:xfrm>
            <a:off x="4815840" y="5908357"/>
            <a:ext cx="1043940" cy="521970"/>
          </a:xfrm>
          <a:prstGeom prst="roundRect">
            <a:avLst>
              <a:gd name="adj" fmla="val 50000"/>
            </a:avLst>
          </a:prstGeom>
          <a:solidFill>
            <a:srgbClr val="F4F1EA"/>
          </a:solidFill>
          <a:ln w="7620">
            <a:solidFill>
              <a:srgbClr val="E7E2D7"/>
            </a:solidFill>
            <a:prstDash val="solid"/>
          </a:ln>
        </p:spPr>
      </p:sp>
      <p:sp>
        <p:nvSpPr>
          <p:cNvPr id="15" name="Text 13"/>
          <p:cNvSpPr/>
          <p:nvPr/>
        </p:nvSpPr>
        <p:spPr>
          <a:xfrm>
            <a:off x="4994910" y="6020752"/>
            <a:ext cx="762000" cy="335280"/>
          </a:xfrm>
          <a:prstGeom prst="rect">
            <a:avLst/>
          </a:prstGeom>
          <a:noFill/>
          <a:ln/>
        </p:spPr>
        <p:txBody>
          <a:bodyPr wrap="square" lIns="25400" tIns="25400" rIns="25400" bIns="25400" rtlCol="0" anchor="t">
            <a:normAutofit/>
          </a:bodyPr>
          <a:lstStyle/>
          <a:p>
            <a:pPr algn="l" indent="0" marL="0">
              <a:buNone/>
            </a:pPr>
            <a:r>
              <a:rPr lang="en-US" sz="1800" dirty="0">
                <a:solidFill>
                  <a:srgbClr val="221F29"/>
                </a:solidFill>
                <a:latin typeface="Courier New" pitchFamily="34" charset="0"/>
                <a:ea typeface="Courier New" pitchFamily="34" charset="-122"/>
                <a:cs typeface="Courier New" pitchFamily="34" charset="-120"/>
              </a:rPr>
              <a:t>dummy</a:t>
            </a:r>
            <a:endParaRPr lang="en-US" sz="1800" dirty="0"/>
          </a:p>
        </p:txBody>
      </p:sp>
      <p:sp>
        <p:nvSpPr>
          <p:cNvPr id="16" name="Shape 14"/>
          <p:cNvSpPr/>
          <p:nvPr/>
        </p:nvSpPr>
        <p:spPr>
          <a:xfrm>
            <a:off x="5974080" y="5908357"/>
            <a:ext cx="1729740" cy="521970"/>
          </a:xfrm>
          <a:prstGeom prst="roundRect">
            <a:avLst>
              <a:gd name="adj" fmla="val 50000"/>
            </a:avLst>
          </a:prstGeom>
          <a:solidFill>
            <a:srgbClr val="F4F1EA"/>
          </a:solidFill>
          <a:ln w="7620">
            <a:solidFill>
              <a:srgbClr val="E7E2D7"/>
            </a:solidFill>
            <a:prstDash val="solid"/>
          </a:ln>
        </p:spPr>
      </p:sp>
      <p:sp>
        <p:nvSpPr>
          <p:cNvPr id="17" name="Text 15"/>
          <p:cNvSpPr/>
          <p:nvPr/>
        </p:nvSpPr>
        <p:spPr>
          <a:xfrm>
            <a:off x="6153150" y="6020752"/>
            <a:ext cx="1447800" cy="335280"/>
          </a:xfrm>
          <a:prstGeom prst="rect">
            <a:avLst/>
          </a:prstGeom>
          <a:noFill/>
          <a:ln/>
        </p:spPr>
        <p:txBody>
          <a:bodyPr wrap="square" lIns="25400" tIns="25400" rIns="25400" bIns="25400" rtlCol="0" anchor="t">
            <a:normAutofit/>
          </a:bodyPr>
          <a:lstStyle/>
          <a:p>
            <a:pPr algn="l" indent="0" marL="0">
              <a:buNone/>
            </a:pPr>
            <a:r>
              <a:rPr lang="en-US" sz="1800" dirty="0">
                <a:solidFill>
                  <a:srgbClr val="221F29"/>
                </a:solidFill>
                <a:latin typeface="Courier New" pitchFamily="34" charset="0"/>
                <a:ea typeface="Courier New" pitchFamily="34" charset="-122"/>
                <a:cs typeface="Courier New" pitchFamily="34" charset="-120"/>
              </a:rPr>
              <a:t>aditivnost</a:t>
            </a:r>
            <a:endParaRPr lang="en-US" sz="1800" dirty="0"/>
          </a:p>
        </p:txBody>
      </p:sp>
      <p:sp>
        <p:nvSpPr>
          <p:cNvPr id="18" name="Shape 16"/>
          <p:cNvSpPr/>
          <p:nvPr/>
        </p:nvSpPr>
        <p:spPr>
          <a:xfrm>
            <a:off x="10765156" y="2000250"/>
            <a:ext cx="6570345" cy="3310890"/>
          </a:xfrm>
          <a:prstGeom prst="roundRect">
            <a:avLst>
              <a:gd name="adj" fmla="val 3452"/>
            </a:avLst>
          </a:prstGeom>
          <a:solidFill>
            <a:srgbClr val="EEF6F0"/>
          </a:solidFill>
          <a:ln w="7620">
            <a:solidFill>
              <a:srgbClr val="CFE6D6"/>
            </a:solidFill>
            <a:prstDash val="solid"/>
          </a:ln>
        </p:spPr>
      </p:sp>
      <p:sp>
        <p:nvSpPr>
          <p:cNvPr id="19" name="Text 17"/>
          <p:cNvSpPr/>
          <p:nvPr/>
        </p:nvSpPr>
        <p:spPr>
          <a:xfrm>
            <a:off x="11096625" y="2293620"/>
            <a:ext cx="6498146" cy="33528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3F7D54"/>
                </a:solidFill>
                <a:latin typeface="Courier New" pitchFamily="34" charset="0"/>
                <a:ea typeface="Courier New" pitchFamily="34" charset="-122"/>
                <a:cs typeface="Courier New" pitchFamily="34" charset="-120"/>
              </a:rPr>
              <a:t>PREDNOST</a:t>
            </a:r>
            <a:endParaRPr lang="en-US" sz="1800" dirty="0"/>
          </a:p>
        </p:txBody>
      </p:sp>
      <p:sp>
        <p:nvSpPr>
          <p:cNvPr id="20" name="Text 18"/>
          <p:cNvSpPr/>
          <p:nvPr/>
        </p:nvSpPr>
        <p:spPr>
          <a:xfrm>
            <a:off x="11096625" y="2724150"/>
            <a:ext cx="6084627" cy="1078230"/>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2C4A37"/>
                </a:solidFill>
                <a:latin typeface="Arial" pitchFamily="34" charset="0"/>
                <a:ea typeface="Arial" pitchFamily="34" charset="-122"/>
                <a:cs typeface="Arial" pitchFamily="34" charset="-120"/>
              </a:rPr>
              <a:t>Čvrst teorijski temelj — jedina metoda sa zagarantovanim matematičkim svojstvima pravednog raspoređivanja doprinosa.</a:t>
            </a:r>
            <a:endParaRPr lang="en-US" sz="1950" dirty="0"/>
          </a:p>
        </p:txBody>
      </p:sp>
      <p:sp>
        <p:nvSpPr>
          <p:cNvPr id="21" name="Shape 19"/>
          <p:cNvSpPr/>
          <p:nvPr/>
        </p:nvSpPr>
        <p:spPr>
          <a:xfrm>
            <a:off x="10765156" y="5463540"/>
            <a:ext cx="6570345" cy="3310890"/>
          </a:xfrm>
          <a:prstGeom prst="roundRect">
            <a:avLst>
              <a:gd name="adj" fmla="val 3452"/>
            </a:avLst>
          </a:prstGeom>
          <a:solidFill>
            <a:srgbClr val="F9EFE9"/>
          </a:solidFill>
          <a:ln w="7620">
            <a:solidFill>
              <a:srgbClr val="ECD4C8"/>
            </a:solidFill>
            <a:prstDash val="solid"/>
          </a:ln>
        </p:spPr>
      </p:sp>
      <p:sp>
        <p:nvSpPr>
          <p:cNvPr id="22" name="Text 20"/>
          <p:cNvSpPr/>
          <p:nvPr/>
        </p:nvSpPr>
        <p:spPr>
          <a:xfrm>
            <a:off x="11096625" y="5756910"/>
            <a:ext cx="6498146" cy="33528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A85A3C"/>
                </a:solidFill>
                <a:latin typeface="Courier New" pitchFamily="34" charset="0"/>
                <a:ea typeface="Courier New" pitchFamily="34" charset="-122"/>
                <a:cs typeface="Courier New" pitchFamily="34" charset="-120"/>
              </a:rPr>
              <a:t>MANA</a:t>
            </a:r>
            <a:endParaRPr lang="en-US" sz="1800" dirty="0"/>
          </a:p>
        </p:txBody>
      </p:sp>
      <p:sp>
        <p:nvSpPr>
          <p:cNvPr id="23" name="Text 21"/>
          <p:cNvSpPr/>
          <p:nvPr/>
        </p:nvSpPr>
        <p:spPr>
          <a:xfrm>
            <a:off x="11096625" y="6187440"/>
            <a:ext cx="6084627" cy="1078230"/>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7A4730"/>
                </a:solidFill>
                <a:latin typeface="Arial" pitchFamily="34" charset="0"/>
                <a:ea typeface="Arial" pitchFamily="34" charset="-122"/>
                <a:cs typeface="Arial" pitchFamily="34" charset="-120"/>
              </a:rPr>
              <a:t>Broj podskupova raste eksponencijalno → preskupo nad slikom 224×224. U praksi aproksimacije (GradientSHAP).</a:t>
            </a:r>
            <a:endParaRPr lang="en-US" sz="1950" dirty="0"/>
          </a:p>
        </p:txBody>
      </p:sp>
      <p:sp>
        <p:nvSpPr>
          <p:cNvPr id="24" name="Shape 22"/>
          <p:cNvSpPr/>
          <p:nvPr/>
        </p:nvSpPr>
        <p:spPr>
          <a:xfrm>
            <a:off x="10765156" y="8926830"/>
            <a:ext cx="6570345" cy="617220"/>
          </a:xfrm>
          <a:prstGeom prst="roundRect">
            <a:avLst>
              <a:gd name="adj" fmla="val 15432"/>
            </a:avLst>
          </a:prstGeom>
          <a:solidFill>
            <a:srgbClr val="FFFFFF"/>
          </a:solidFill>
          <a:ln w="7620">
            <a:solidFill>
              <a:srgbClr val="E7E2D7"/>
            </a:solidFill>
            <a:prstDash val="solid"/>
          </a:ln>
        </p:spPr>
      </p:sp>
      <p:sp>
        <p:nvSpPr>
          <p:cNvPr id="25" name="Text 23"/>
          <p:cNvSpPr/>
          <p:nvPr/>
        </p:nvSpPr>
        <p:spPr>
          <a:xfrm>
            <a:off x="10982326" y="9086850"/>
            <a:ext cx="6333115" cy="335280"/>
          </a:xfrm>
          <a:prstGeom prst="rect">
            <a:avLst/>
          </a:prstGeom>
          <a:noFill/>
          <a:ln/>
        </p:spPr>
        <p:txBody>
          <a:bodyPr wrap="square" lIns="25400" tIns="25400" rIns="25400" bIns="25400" rtlCol="0" anchor="t">
            <a:normAutofit/>
          </a:bodyPr>
          <a:lstStyle/>
          <a:p>
            <a:pPr algn="l" indent="0" marL="0">
              <a:buNone/>
            </a:pPr>
            <a:r>
              <a:rPr lang="en-US" sz="1800" dirty="0">
                <a:solidFill>
                  <a:srgbClr val="6F6B63"/>
                </a:solidFill>
                <a:latin typeface="Courier New" pitchFamily="34" charset="0"/>
                <a:ea typeface="Courier New" pitchFamily="34" charset="-122"/>
                <a:cs typeface="Courier New" pitchFamily="34" charset="-120"/>
              </a:rPr>
              <a:t>nije implementiran — samo teorijska obrada</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57250" y="514350"/>
            <a:ext cx="8745832" cy="33528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A3FB0"/>
                </a:solidFill>
                <a:latin typeface="Courier New" pitchFamily="34" charset="0"/>
                <a:ea typeface="Courier New" pitchFamily="34" charset="-122"/>
                <a:cs typeface="Courier New" pitchFamily="34" charset="-120"/>
              </a:rPr>
              <a:t>05 · KOMPARATIVNA ANALIZA — ISPRAVNE PREDIKCIJE</a:t>
            </a:r>
            <a:endParaRPr lang="en-US" sz="1800" dirty="0"/>
          </a:p>
        </p:txBody>
      </p:sp>
      <p:sp>
        <p:nvSpPr>
          <p:cNvPr id="3" name="Text 1"/>
          <p:cNvSpPr/>
          <p:nvPr/>
        </p:nvSpPr>
        <p:spPr>
          <a:xfrm>
            <a:off x="857250" y="906780"/>
            <a:ext cx="8745832" cy="493752"/>
          </a:xfrm>
          <a:prstGeom prst="rect">
            <a:avLst/>
          </a:prstGeom>
          <a:noFill/>
          <a:ln/>
        </p:spPr>
        <p:txBody>
          <a:bodyPr wrap="square" lIns="25400" tIns="25400" rIns="25400" bIns="25400" rtlCol="0" anchor="t">
            <a:normAutofit/>
          </a:bodyPr>
          <a:lstStyle/>
          <a:p>
            <a:pPr algn="l" indent="0" marL="0">
              <a:lnSpc>
                <a:spcPct val="104000"/>
              </a:lnSpc>
              <a:buNone/>
            </a:pPr>
            <a:r>
              <a:rPr lang="en-US" sz="3450" b="1" spc="-34" kern="0" dirty="0">
                <a:solidFill>
                  <a:srgbClr val="221F29"/>
                </a:solidFill>
                <a:latin typeface="Georgia" pitchFamily="34" charset="0"/>
                <a:ea typeface="Georgia" pitchFamily="34" charset="-122"/>
                <a:cs typeface="Georgia" pitchFamily="34" charset="-120"/>
              </a:rPr>
              <a:t>Sve tri metode gledaju niske frekvencije</a:t>
            </a:r>
            <a:endParaRPr lang="en-US" sz="3450" dirty="0"/>
          </a:p>
        </p:txBody>
      </p:sp>
      <p:sp>
        <p:nvSpPr>
          <p:cNvPr id="4" name="Text 2"/>
          <p:cNvSpPr/>
          <p:nvPr/>
        </p:nvSpPr>
        <p:spPr>
          <a:xfrm>
            <a:off x="13616331" y="676632"/>
            <a:ext cx="3814420" cy="723900"/>
          </a:xfrm>
          <a:prstGeom prst="rect">
            <a:avLst/>
          </a:prstGeom>
          <a:noFill/>
          <a:ln/>
        </p:spPr>
        <p:txBody>
          <a:bodyPr wrap="square" lIns="25400" tIns="25400" rIns="25400" bIns="25400" rtlCol="0" anchor="t">
            <a:normAutofit/>
          </a:bodyPr>
          <a:lstStyle/>
          <a:p>
            <a:pPr algn="r" indent="0" marL="0">
              <a:lnSpc>
                <a:spcPct val="150000"/>
              </a:lnSpc>
              <a:buNone/>
            </a:pPr>
            <a:r>
              <a:rPr lang="en-US" sz="1800" dirty="0">
                <a:solidFill>
                  <a:srgbClr val="7A766E"/>
                </a:solidFill>
                <a:latin typeface="Courier New" pitchFamily="34" charset="0"/>
                <a:ea typeface="Courier New" pitchFamily="34" charset="-122"/>
                <a:cs typeface="Courier New" pitchFamily="34" charset="-120"/>
              </a:rPr>
              <a:t>Original · Grad-CAM LIME · Integrated Gradients</a:t>
            </a:r>
            <a:endParaRPr lang="en-US" sz="1800" dirty="0"/>
          </a:p>
        </p:txBody>
      </p:sp>
      <p:sp>
        <p:nvSpPr>
          <p:cNvPr id="5" name="Text 3"/>
          <p:cNvSpPr/>
          <p:nvPr/>
        </p:nvSpPr>
        <p:spPr>
          <a:xfrm>
            <a:off x="3524250" y="1533882"/>
            <a:ext cx="12363450" cy="350520"/>
          </a:xfrm>
          <a:prstGeom prst="rect">
            <a:avLst/>
          </a:prstGeom>
          <a:noFill/>
          <a:ln/>
        </p:spPr>
        <p:txBody>
          <a:bodyPr wrap="square" lIns="25400" tIns="25400" rIns="25400" bIns="25400" rtlCol="0" anchor="t">
            <a:normAutofit/>
          </a:bodyPr>
          <a:lstStyle/>
          <a:p>
            <a:pPr algn="l" indent="0" marL="0">
              <a:buNone/>
            </a:pPr>
            <a:r>
              <a:rPr lang="en-US" sz="1800" b="1" dirty="0">
                <a:solidFill>
                  <a:srgbClr val="3F7D54"/>
                </a:solidFill>
                <a:latin typeface="Courier New" pitchFamily="34" charset="0"/>
                <a:ea typeface="Courier New" pitchFamily="34" charset="-122"/>
                <a:cs typeface="Courier New" pitchFamily="34" charset="-120"/>
              </a:rPr>
              <a:t>✓ AFib → AFib </a:t>
            </a:r>
            <a:pPr algn="l" indent="0" marL="0">
              <a:buNone/>
            </a:pPr>
            <a:r>
              <a:rPr lang="en-US" sz="1800" dirty="0">
                <a:solidFill>
                  <a:srgbClr val="45424B"/>
                </a:solidFill>
                <a:latin typeface="Courier New" pitchFamily="34" charset="0"/>
                <a:ea typeface="Courier New" pitchFamily="34" charset="-122"/>
                <a:cs typeface="Courier New" pitchFamily="34" charset="-120"/>
              </a:rPr>
              <a:t>· conf 0.96</a:t>
            </a:r>
            <a:endParaRPr lang="en-US" sz="1800" dirty="0"/>
          </a:p>
        </p:txBody>
      </p:sp>
      <p:sp>
        <p:nvSpPr>
          <p:cNvPr id="6" name="Shape 4"/>
          <p:cNvSpPr/>
          <p:nvPr/>
        </p:nvSpPr>
        <p:spPr>
          <a:xfrm>
            <a:off x="3524250" y="1893927"/>
            <a:ext cx="11239500" cy="3013472"/>
          </a:xfrm>
          <a:prstGeom prst="roundRect">
            <a:avLst>
              <a:gd name="adj" fmla="val 2529"/>
            </a:avLst>
          </a:prstGeom>
          <a:solidFill>
            <a:srgbClr val="FFFFFF"/>
          </a:solidFill>
          <a:ln w="7620">
            <a:solidFill>
              <a:srgbClr val="E7E2D7"/>
            </a:solidFill>
            <a:prstDash val="solid"/>
          </a:ln>
          <a:effectLst>
            <a:outerShdw sx="100000" sy="100000" kx="0" ky="0" algn="bl" rotWithShape="0" blurRad="28575" dist="9525" dir="5400000">
              <a:srgbClr val="000000">
                <a:alpha val="5000"/>
              </a:srgbClr>
            </a:outerShdw>
          </a:effectLst>
        </p:spPr>
      </p:sp>
      <p:pic>
        <p:nvPicPr>
          <p:cNvPr id="7" name="Image 0" descr="preencoded.png">    </p:cNvPr>
          <p:cNvPicPr>
            <a:picLocks noChangeAspect="1"/>
          </p:cNvPicPr>
          <p:nvPr/>
        </p:nvPicPr>
        <p:blipFill>
          <a:blip r:embed="rId1"/>
          <a:stretch>
            <a:fillRect/>
          </a:stretch>
        </p:blipFill>
        <p:spPr>
          <a:xfrm>
            <a:off x="3617595" y="1987272"/>
            <a:ext cx="11052810" cy="2826782"/>
          </a:xfrm>
          <a:prstGeom prst="rect">
            <a:avLst/>
          </a:prstGeom>
        </p:spPr>
      </p:pic>
      <p:sp>
        <p:nvSpPr>
          <p:cNvPr id="8" name="Text 5"/>
          <p:cNvSpPr/>
          <p:nvPr/>
        </p:nvSpPr>
        <p:spPr>
          <a:xfrm>
            <a:off x="3524250" y="5021699"/>
            <a:ext cx="12363450" cy="350520"/>
          </a:xfrm>
          <a:prstGeom prst="rect">
            <a:avLst/>
          </a:prstGeom>
          <a:noFill/>
          <a:ln/>
        </p:spPr>
        <p:txBody>
          <a:bodyPr wrap="square" lIns="25400" tIns="25400" rIns="25400" bIns="25400" rtlCol="0" anchor="t">
            <a:normAutofit/>
          </a:bodyPr>
          <a:lstStyle/>
          <a:p>
            <a:pPr algn="l" indent="0" marL="0">
              <a:buNone/>
            </a:pPr>
            <a:r>
              <a:rPr lang="en-US" sz="1800" b="1" dirty="0">
                <a:solidFill>
                  <a:srgbClr val="3F7D54"/>
                </a:solidFill>
                <a:latin typeface="Courier New" pitchFamily="34" charset="0"/>
                <a:ea typeface="Courier New" pitchFamily="34" charset="-122"/>
                <a:cs typeface="Courier New" pitchFamily="34" charset="-120"/>
              </a:rPr>
              <a:t>✓ Normalan → Normalan </a:t>
            </a:r>
            <a:pPr algn="l" indent="0" marL="0">
              <a:buNone/>
            </a:pPr>
            <a:r>
              <a:rPr lang="en-US" sz="1800" dirty="0">
                <a:solidFill>
                  <a:srgbClr val="45424B"/>
                </a:solidFill>
                <a:latin typeface="Courier New" pitchFamily="34" charset="0"/>
                <a:ea typeface="Courier New" pitchFamily="34" charset="-122"/>
                <a:cs typeface="Courier New" pitchFamily="34" charset="-120"/>
              </a:rPr>
              <a:t>· conf 0.98</a:t>
            </a:r>
            <a:endParaRPr lang="en-US" sz="1800" dirty="0"/>
          </a:p>
        </p:txBody>
      </p:sp>
      <p:sp>
        <p:nvSpPr>
          <p:cNvPr id="9" name="Shape 6"/>
          <p:cNvSpPr/>
          <p:nvPr/>
        </p:nvSpPr>
        <p:spPr>
          <a:xfrm>
            <a:off x="3524250" y="5381744"/>
            <a:ext cx="11239500" cy="2947511"/>
          </a:xfrm>
          <a:prstGeom prst="roundRect">
            <a:avLst>
              <a:gd name="adj" fmla="val 2585"/>
            </a:avLst>
          </a:prstGeom>
          <a:solidFill>
            <a:srgbClr val="FFFFFF"/>
          </a:solidFill>
          <a:ln w="7620">
            <a:solidFill>
              <a:srgbClr val="E7E2D7"/>
            </a:solidFill>
            <a:prstDash val="solid"/>
          </a:ln>
          <a:effectLst>
            <a:outerShdw sx="100000" sy="100000" kx="0" ky="0" algn="bl" rotWithShape="0" blurRad="28575" dist="9525" dir="5400000">
              <a:srgbClr val="000000">
                <a:alpha val="5000"/>
              </a:srgbClr>
            </a:outerShdw>
          </a:effectLst>
        </p:spPr>
      </p:sp>
      <p:pic>
        <p:nvPicPr>
          <p:cNvPr id="10" name="Image 1" descr="preencoded.png">    </p:cNvPr>
          <p:cNvPicPr>
            <a:picLocks noChangeAspect="1"/>
          </p:cNvPicPr>
          <p:nvPr/>
        </p:nvPicPr>
        <p:blipFill>
          <a:blip r:embed="rId2"/>
          <a:stretch>
            <a:fillRect/>
          </a:stretch>
        </p:blipFill>
        <p:spPr>
          <a:xfrm>
            <a:off x="3617595" y="5475089"/>
            <a:ext cx="11052810" cy="2760821"/>
          </a:xfrm>
          <a:prstGeom prst="rect">
            <a:avLst/>
          </a:prstGeom>
        </p:spPr>
      </p:pic>
      <p:sp>
        <p:nvSpPr>
          <p:cNvPr id="11" name="Text 7"/>
          <p:cNvSpPr/>
          <p:nvPr/>
        </p:nvSpPr>
        <p:spPr>
          <a:xfrm>
            <a:off x="857250" y="8500706"/>
            <a:ext cx="15697200" cy="674370"/>
          </a:xfrm>
          <a:prstGeom prst="rect">
            <a:avLst/>
          </a:prstGeom>
          <a:noFill/>
          <a:ln/>
        </p:spPr>
        <p:txBody>
          <a:bodyPr wrap="square" lIns="25400" tIns="25400" rIns="25400" bIns="25400" rtlCol="0" anchor="t">
            <a:normAutofit/>
          </a:bodyPr>
          <a:lstStyle/>
          <a:p>
            <a:pPr algn="l" indent="0" marL="0">
              <a:lnSpc>
                <a:spcPct val="132000"/>
              </a:lnSpc>
              <a:buNone/>
            </a:pPr>
            <a:r>
              <a:rPr lang="en-US" sz="1875" dirty="0">
                <a:solidFill>
                  <a:srgbClr val="45424B"/>
                </a:solidFill>
                <a:latin typeface="Arial" pitchFamily="34" charset="0"/>
                <a:ea typeface="Arial" pitchFamily="34" charset="-122"/>
                <a:cs typeface="Arial" pitchFamily="34" charset="-120"/>
              </a:rPr>
              <a:t>Pažnja je koncentrisana u donjem dijelu spektrograma, gdje se kod EKG signala nalazi </a:t>
            </a:r>
            <a:pPr algn="l" indent="0" marL="0">
              <a:lnSpc>
                <a:spcPct val="132000"/>
              </a:lnSpc>
              <a:buNone/>
            </a:pPr>
            <a:r>
              <a:rPr lang="en-US" sz="1875" b="1" dirty="0">
                <a:solidFill>
                  <a:srgbClr val="5A2FA0"/>
                </a:solidFill>
                <a:latin typeface="Arial" pitchFamily="34" charset="0"/>
                <a:ea typeface="Arial" pitchFamily="34" charset="-122"/>
                <a:cs typeface="Arial" pitchFamily="34" charset="-120"/>
              </a:rPr>
              <a:t>QRS kompleks </a:t>
            </a:r>
            <a:pPr algn="l" indent="0" marL="0">
              <a:lnSpc>
                <a:spcPct val="132000"/>
              </a:lnSpc>
              <a:buNone/>
            </a:pPr>
            <a:r>
              <a:rPr lang="en-US" sz="1875" dirty="0">
                <a:solidFill>
                  <a:srgbClr val="45424B"/>
                </a:solidFill>
                <a:latin typeface="Arial" pitchFamily="34" charset="0"/>
                <a:ea typeface="Arial" pitchFamily="34" charset="-122"/>
                <a:cs typeface="Arial" pitchFamily="34" charset="-120"/>
              </a:rPr>
              <a:t>. Grad-CAM daje glatku mapu, LIME superpiksele, Integrated Gradients pikselne doprinose — tri pogleda na istu, smislenu odluku.</a:t>
            </a:r>
            <a:endParaRPr lang="en-US" sz="187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57250" y="514350"/>
            <a:ext cx="8745832" cy="33528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A85A3C"/>
                </a:solidFill>
                <a:latin typeface="Courier New" pitchFamily="34" charset="0"/>
                <a:ea typeface="Courier New" pitchFamily="34" charset="-122"/>
                <a:cs typeface="Courier New" pitchFamily="34" charset="-120"/>
              </a:rPr>
              <a:t>05 · KOMPARATIVNA ANALIZA — POGREŠNE PREDIKCIJE</a:t>
            </a:r>
            <a:endParaRPr lang="en-US" sz="1800" dirty="0"/>
          </a:p>
        </p:txBody>
      </p:sp>
      <p:sp>
        <p:nvSpPr>
          <p:cNvPr id="3" name="Text 1"/>
          <p:cNvSpPr/>
          <p:nvPr/>
        </p:nvSpPr>
        <p:spPr>
          <a:xfrm>
            <a:off x="857250" y="906780"/>
            <a:ext cx="8745832" cy="493752"/>
          </a:xfrm>
          <a:prstGeom prst="rect">
            <a:avLst/>
          </a:prstGeom>
          <a:noFill/>
          <a:ln/>
        </p:spPr>
        <p:txBody>
          <a:bodyPr wrap="square" lIns="25400" tIns="25400" rIns="25400" bIns="25400" rtlCol="0" anchor="t">
            <a:normAutofit/>
          </a:bodyPr>
          <a:lstStyle/>
          <a:p>
            <a:pPr algn="l" indent="0" marL="0">
              <a:lnSpc>
                <a:spcPct val="104000"/>
              </a:lnSpc>
              <a:buNone/>
            </a:pPr>
            <a:r>
              <a:rPr lang="en-US" sz="3450" b="1" spc="-34" kern="0" dirty="0">
                <a:solidFill>
                  <a:srgbClr val="221F29"/>
                </a:solidFill>
                <a:latin typeface="Georgia" pitchFamily="34" charset="0"/>
                <a:ea typeface="Georgia" pitchFamily="34" charset="-122"/>
                <a:cs typeface="Georgia" pitchFamily="34" charset="-120"/>
              </a:rPr>
              <a:t>Visoka sigurnost ≠ ispravan razlog</a:t>
            </a:r>
            <a:endParaRPr lang="en-US" sz="3450" dirty="0"/>
          </a:p>
        </p:txBody>
      </p:sp>
      <p:sp>
        <p:nvSpPr>
          <p:cNvPr id="4" name="Text 2"/>
          <p:cNvSpPr/>
          <p:nvPr/>
        </p:nvSpPr>
        <p:spPr>
          <a:xfrm>
            <a:off x="13898880" y="676632"/>
            <a:ext cx="3531870" cy="723900"/>
          </a:xfrm>
          <a:prstGeom prst="rect">
            <a:avLst/>
          </a:prstGeom>
          <a:noFill/>
          <a:ln/>
        </p:spPr>
        <p:txBody>
          <a:bodyPr wrap="square" lIns="25400" tIns="25400" rIns="25400" bIns="25400" rtlCol="0" anchor="t">
            <a:normAutofit/>
          </a:bodyPr>
          <a:lstStyle/>
          <a:p>
            <a:pPr algn="r" indent="0" marL="0">
              <a:lnSpc>
                <a:spcPct val="150000"/>
              </a:lnSpc>
              <a:buNone/>
            </a:pPr>
            <a:r>
              <a:rPr lang="en-US" sz="1800" dirty="0">
                <a:solidFill>
                  <a:srgbClr val="7A766E"/>
                </a:solidFill>
                <a:latin typeface="Courier New" pitchFamily="34" charset="0"/>
                <a:ea typeface="Courier New" pitchFamily="34" charset="-122"/>
                <a:cs typeface="Courier New" pitchFamily="34" charset="-120"/>
              </a:rPr>
              <a:t>objašnjava se </a:t>
            </a:r>
            <a:pPr algn="r" indent="0" marL="0">
              <a:lnSpc>
                <a:spcPct val="150000"/>
              </a:lnSpc>
              <a:buNone/>
            </a:pPr>
            <a:r>
              <a:rPr lang="en-US" sz="1800" dirty="0">
                <a:solidFill>
                  <a:srgbClr val="5A2FA0"/>
                </a:solidFill>
                <a:latin typeface="Courier New" pitchFamily="34" charset="0"/>
                <a:ea typeface="Courier New" pitchFamily="34" charset="-122"/>
                <a:cs typeface="Courier New" pitchFamily="34" charset="-120"/>
              </a:rPr>
              <a:t>predikcija </a:t>
            </a:r>
            <a:pPr algn="r" indent="0" marL="0">
              <a:lnSpc>
                <a:spcPct val="150000"/>
              </a:lnSpc>
              <a:buNone/>
            </a:pPr>
            <a:r>
              <a:rPr lang="en-US" sz="1800" dirty="0">
                <a:solidFill>
                  <a:srgbClr val="7A766E"/>
                </a:solidFill>
                <a:latin typeface="Courier New" pitchFamily="34" charset="0"/>
                <a:ea typeface="Courier New" pitchFamily="34" charset="-122"/>
                <a:cs typeface="Courier New" pitchFamily="34" charset="-120"/>
              </a:rPr>
              <a:t>, ne stvarna klasa</a:t>
            </a:r>
            <a:endParaRPr lang="en-US" sz="1800" dirty="0"/>
          </a:p>
        </p:txBody>
      </p:sp>
      <p:sp>
        <p:nvSpPr>
          <p:cNvPr id="5" name="Text 3"/>
          <p:cNvSpPr/>
          <p:nvPr/>
        </p:nvSpPr>
        <p:spPr>
          <a:xfrm>
            <a:off x="3524250" y="1533882"/>
            <a:ext cx="12363450" cy="350520"/>
          </a:xfrm>
          <a:prstGeom prst="rect">
            <a:avLst/>
          </a:prstGeom>
          <a:noFill/>
          <a:ln/>
        </p:spPr>
        <p:txBody>
          <a:bodyPr wrap="square" lIns="25400" tIns="25400" rIns="25400" bIns="25400" rtlCol="0" anchor="t">
            <a:normAutofit/>
          </a:bodyPr>
          <a:lstStyle/>
          <a:p>
            <a:pPr algn="l" indent="0" marL="0">
              <a:buNone/>
            </a:pPr>
            <a:r>
              <a:rPr lang="en-US" sz="1800" b="1" dirty="0">
                <a:solidFill>
                  <a:srgbClr val="A85A3C"/>
                </a:solidFill>
                <a:latin typeface="Courier New" pitchFamily="34" charset="0"/>
                <a:ea typeface="Courier New" pitchFamily="34" charset="-122"/>
                <a:cs typeface="Courier New" pitchFamily="34" charset="-120"/>
              </a:rPr>
              <a:t>✗ AFib → Normalan </a:t>
            </a:r>
            <a:pPr algn="l" indent="0" marL="0">
              <a:buNone/>
            </a:pPr>
            <a:r>
              <a:rPr lang="en-US" sz="1800" dirty="0">
                <a:solidFill>
                  <a:srgbClr val="45424B"/>
                </a:solidFill>
                <a:latin typeface="Courier New" pitchFamily="34" charset="0"/>
                <a:ea typeface="Courier New" pitchFamily="34" charset="-122"/>
                <a:cs typeface="Courier New" pitchFamily="34" charset="-120"/>
              </a:rPr>
              <a:t>· conf 0.93</a:t>
            </a:r>
            <a:endParaRPr lang="en-US" sz="1800" dirty="0"/>
          </a:p>
        </p:txBody>
      </p:sp>
      <p:sp>
        <p:nvSpPr>
          <p:cNvPr id="6" name="Shape 4"/>
          <p:cNvSpPr/>
          <p:nvPr/>
        </p:nvSpPr>
        <p:spPr>
          <a:xfrm>
            <a:off x="3524250" y="1893927"/>
            <a:ext cx="11239500" cy="2997637"/>
          </a:xfrm>
          <a:prstGeom prst="roundRect">
            <a:avLst>
              <a:gd name="adj" fmla="val 2542"/>
            </a:avLst>
          </a:prstGeom>
          <a:solidFill>
            <a:srgbClr val="FFFFFF"/>
          </a:solidFill>
          <a:ln w="7620">
            <a:solidFill>
              <a:srgbClr val="E7E2D7"/>
            </a:solidFill>
            <a:prstDash val="solid"/>
          </a:ln>
          <a:effectLst>
            <a:outerShdw sx="100000" sy="100000" kx="0" ky="0" algn="bl" rotWithShape="0" blurRad="28575" dist="9525" dir="5400000">
              <a:srgbClr val="000000">
                <a:alpha val="5000"/>
              </a:srgbClr>
            </a:outerShdw>
          </a:effectLst>
        </p:spPr>
      </p:sp>
      <p:pic>
        <p:nvPicPr>
          <p:cNvPr id="7" name="Image 0" descr="preencoded.png">    </p:cNvPr>
          <p:cNvPicPr>
            <a:picLocks noChangeAspect="1"/>
          </p:cNvPicPr>
          <p:nvPr/>
        </p:nvPicPr>
        <p:blipFill>
          <a:blip r:embed="rId1"/>
          <a:stretch>
            <a:fillRect/>
          </a:stretch>
        </p:blipFill>
        <p:spPr>
          <a:xfrm>
            <a:off x="3617595" y="1987272"/>
            <a:ext cx="11052810" cy="2810947"/>
          </a:xfrm>
          <a:prstGeom prst="rect">
            <a:avLst/>
          </a:prstGeom>
        </p:spPr>
      </p:pic>
      <p:sp>
        <p:nvSpPr>
          <p:cNvPr id="8" name="Text 5"/>
          <p:cNvSpPr/>
          <p:nvPr/>
        </p:nvSpPr>
        <p:spPr>
          <a:xfrm>
            <a:off x="3524250" y="5005864"/>
            <a:ext cx="12363450" cy="350520"/>
          </a:xfrm>
          <a:prstGeom prst="rect">
            <a:avLst/>
          </a:prstGeom>
          <a:noFill/>
          <a:ln/>
        </p:spPr>
        <p:txBody>
          <a:bodyPr wrap="square" lIns="25400" tIns="25400" rIns="25400" bIns="25400" rtlCol="0" anchor="t">
            <a:normAutofit/>
          </a:bodyPr>
          <a:lstStyle/>
          <a:p>
            <a:pPr algn="l" indent="0" marL="0">
              <a:buNone/>
            </a:pPr>
            <a:r>
              <a:rPr lang="en-US" sz="1800" b="1" dirty="0">
                <a:solidFill>
                  <a:srgbClr val="A85A3C"/>
                </a:solidFill>
                <a:latin typeface="Courier New" pitchFamily="34" charset="0"/>
                <a:ea typeface="Courier New" pitchFamily="34" charset="-122"/>
                <a:cs typeface="Courier New" pitchFamily="34" charset="-120"/>
              </a:rPr>
              <a:t>✗ Normalan → Šum </a:t>
            </a:r>
            <a:pPr algn="l" indent="0" marL="0">
              <a:buNone/>
            </a:pPr>
            <a:r>
              <a:rPr lang="en-US" sz="1800" dirty="0">
                <a:solidFill>
                  <a:srgbClr val="45424B"/>
                </a:solidFill>
                <a:latin typeface="Courier New" pitchFamily="34" charset="0"/>
                <a:ea typeface="Courier New" pitchFamily="34" charset="-122"/>
                <a:cs typeface="Courier New" pitchFamily="34" charset="-120"/>
              </a:rPr>
              <a:t>· conf 0.80</a:t>
            </a:r>
            <a:endParaRPr lang="en-US" sz="1800" dirty="0"/>
          </a:p>
        </p:txBody>
      </p:sp>
      <p:sp>
        <p:nvSpPr>
          <p:cNvPr id="9" name="Shape 6"/>
          <p:cNvSpPr/>
          <p:nvPr/>
        </p:nvSpPr>
        <p:spPr>
          <a:xfrm>
            <a:off x="3524250" y="5365909"/>
            <a:ext cx="11239500" cy="2988350"/>
          </a:xfrm>
          <a:prstGeom prst="roundRect">
            <a:avLst>
              <a:gd name="adj" fmla="val 2550"/>
            </a:avLst>
          </a:prstGeom>
          <a:solidFill>
            <a:srgbClr val="FFFFFF"/>
          </a:solidFill>
          <a:ln w="7620">
            <a:solidFill>
              <a:srgbClr val="E7E2D7"/>
            </a:solidFill>
            <a:prstDash val="solid"/>
          </a:ln>
          <a:effectLst>
            <a:outerShdw sx="100000" sy="100000" kx="0" ky="0" algn="bl" rotWithShape="0" blurRad="28575" dist="9525" dir="5400000">
              <a:srgbClr val="000000">
                <a:alpha val="5000"/>
              </a:srgbClr>
            </a:outerShdw>
          </a:effectLst>
        </p:spPr>
      </p:sp>
      <p:pic>
        <p:nvPicPr>
          <p:cNvPr id="10" name="Image 1" descr="preencoded.png">    </p:cNvPr>
          <p:cNvPicPr>
            <a:picLocks noChangeAspect="1"/>
          </p:cNvPicPr>
          <p:nvPr/>
        </p:nvPicPr>
        <p:blipFill>
          <a:blip r:embed="rId2"/>
          <a:stretch>
            <a:fillRect/>
          </a:stretch>
        </p:blipFill>
        <p:spPr>
          <a:xfrm>
            <a:off x="3617595" y="5459254"/>
            <a:ext cx="11052810" cy="2801660"/>
          </a:xfrm>
          <a:prstGeom prst="rect">
            <a:avLst/>
          </a:prstGeom>
        </p:spPr>
      </p:pic>
      <p:sp>
        <p:nvSpPr>
          <p:cNvPr id="11" name="Text 7"/>
          <p:cNvSpPr/>
          <p:nvPr/>
        </p:nvSpPr>
        <p:spPr>
          <a:xfrm>
            <a:off x="857250" y="8525709"/>
            <a:ext cx="15697200" cy="674370"/>
          </a:xfrm>
          <a:prstGeom prst="rect">
            <a:avLst/>
          </a:prstGeom>
          <a:noFill/>
          <a:ln/>
        </p:spPr>
        <p:txBody>
          <a:bodyPr wrap="square" lIns="25400" tIns="25400" rIns="25400" bIns="25400" rtlCol="0" anchor="t">
            <a:normAutofit/>
          </a:bodyPr>
          <a:lstStyle/>
          <a:p>
            <a:pPr algn="l" indent="0" marL="0">
              <a:lnSpc>
                <a:spcPct val="132000"/>
              </a:lnSpc>
              <a:buNone/>
            </a:pPr>
            <a:r>
              <a:rPr lang="en-US" sz="1875" dirty="0">
                <a:solidFill>
                  <a:srgbClr val="45424B"/>
                </a:solidFill>
                <a:latin typeface="Arial" pitchFamily="34" charset="0"/>
                <a:ea typeface="Arial" pitchFamily="34" charset="-122"/>
                <a:cs typeface="Arial" pitchFamily="34" charset="-120"/>
              </a:rPr>
              <a:t>Model reaguje na </a:t>
            </a:r>
            <a:pPr algn="l" indent="0" marL="0">
              <a:lnSpc>
                <a:spcPct val="132000"/>
              </a:lnSpc>
              <a:buNone/>
            </a:pPr>
            <a:r>
              <a:rPr lang="en-US" sz="1875" b="1" dirty="0">
                <a:solidFill>
                  <a:srgbClr val="5A2FA0"/>
                </a:solidFill>
                <a:latin typeface="Arial" pitchFamily="34" charset="0"/>
                <a:ea typeface="Arial" pitchFamily="34" charset="-122"/>
                <a:cs typeface="Arial" pitchFamily="34" charset="-120"/>
              </a:rPr>
              <a:t>vizuelnu sličnost i artefakte </a:t>
            </a:r>
            <a:pPr algn="l" indent="0" marL="0">
              <a:lnSpc>
                <a:spcPct val="132000"/>
              </a:lnSpc>
              <a:buNone/>
            </a:pPr>
            <a:r>
              <a:rPr lang="en-US" sz="1875" dirty="0">
                <a:solidFill>
                  <a:srgbClr val="45424B"/>
                </a:solidFill>
                <a:latin typeface="Arial" pitchFamily="34" charset="0"/>
                <a:ea typeface="Arial" pitchFamily="34" charset="-122"/>
                <a:cs typeface="Arial" pitchFamily="34" charset="-120"/>
              </a:rPr>
              <a:t>umjesto na fiziološke karakteristike ritma. Sigurnost od 0.93 ne garantuje da je odluka donesena iz ispravnog razloga — upravo tu XAI otkriva slabosti modela.</a:t>
            </a:r>
            <a:endParaRPr lang="en-US" sz="187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952500" y="800100"/>
            <a:ext cx="18021300" cy="33528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A3FB0"/>
                </a:solidFill>
                <a:latin typeface="Courier New" pitchFamily="34" charset="0"/>
                <a:ea typeface="Courier New" pitchFamily="34" charset="-122"/>
                <a:cs typeface="Courier New" pitchFamily="34" charset="-120"/>
              </a:rPr>
              <a:t>06 · ZAKLJUČAK</a:t>
            </a:r>
            <a:endParaRPr lang="en-US" sz="1800" dirty="0"/>
          </a:p>
        </p:txBody>
      </p:sp>
      <p:sp>
        <p:nvSpPr>
          <p:cNvPr id="3" name="Text 1"/>
          <p:cNvSpPr/>
          <p:nvPr/>
        </p:nvSpPr>
        <p:spPr>
          <a:xfrm>
            <a:off x="952500" y="1249680"/>
            <a:ext cx="16344900" cy="675799"/>
          </a:xfrm>
          <a:prstGeom prst="rect">
            <a:avLst/>
          </a:prstGeom>
          <a:noFill/>
          <a:ln/>
        </p:spPr>
        <p:txBody>
          <a:bodyPr wrap="square" lIns="25400" tIns="25400" rIns="25400" bIns="25400" rtlCol="0" anchor="t">
            <a:normAutofit/>
          </a:bodyPr>
          <a:lstStyle/>
          <a:p>
            <a:pPr algn="l" indent="0" marL="0">
              <a:lnSpc>
                <a:spcPct val="108000"/>
              </a:lnSpc>
              <a:buNone/>
            </a:pPr>
            <a:r>
              <a:rPr lang="en-US" sz="4650" b="1" spc="-46" kern="0" dirty="0">
                <a:solidFill>
                  <a:srgbClr val="221F29"/>
                </a:solidFill>
                <a:latin typeface="Georgia" pitchFamily="34" charset="0"/>
                <a:ea typeface="Georgia" pitchFamily="34" charset="-122"/>
                <a:cs typeface="Georgia" pitchFamily="34" charset="-120"/>
              </a:rPr>
              <a:t>XAI ne daje konačnu potvrdu, ali daje transparentnost</a:t>
            </a:r>
            <a:endParaRPr lang="en-US" sz="4650" dirty="0"/>
          </a:p>
        </p:txBody>
      </p:sp>
      <p:sp>
        <p:nvSpPr>
          <p:cNvPr id="4" name="Shape 2"/>
          <p:cNvSpPr/>
          <p:nvPr/>
        </p:nvSpPr>
        <p:spPr>
          <a:xfrm>
            <a:off x="952500" y="4126944"/>
            <a:ext cx="5308521" cy="2518410"/>
          </a:xfrm>
          <a:prstGeom prst="roundRect">
            <a:avLst>
              <a:gd name="adj" fmla="val 4539"/>
            </a:avLst>
          </a:prstGeom>
          <a:solidFill>
            <a:srgbClr val="FFFFFF"/>
          </a:solidFill>
          <a:ln w="7620">
            <a:solidFill>
              <a:srgbClr val="E7E2D7"/>
            </a:solidFill>
            <a:prstDash val="solid"/>
          </a:ln>
        </p:spPr>
      </p:sp>
      <p:sp>
        <p:nvSpPr>
          <p:cNvPr id="5" name="Text 3"/>
          <p:cNvSpPr/>
          <p:nvPr/>
        </p:nvSpPr>
        <p:spPr>
          <a:xfrm>
            <a:off x="1303020" y="4477464"/>
            <a:ext cx="5068229" cy="33528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A3FB0"/>
                </a:solidFill>
                <a:latin typeface="Courier New" pitchFamily="34" charset="0"/>
                <a:ea typeface="Courier New" pitchFamily="34" charset="-122"/>
                <a:cs typeface="Courier New" pitchFamily="34" charset="-120"/>
              </a:rPr>
              <a:t>SLAGANJE</a:t>
            </a:r>
            <a:endParaRPr lang="en-US" sz="1800" dirty="0"/>
          </a:p>
        </p:txBody>
      </p:sp>
      <p:sp>
        <p:nvSpPr>
          <p:cNvPr id="6" name="Text 4"/>
          <p:cNvSpPr/>
          <p:nvPr/>
        </p:nvSpPr>
        <p:spPr>
          <a:xfrm>
            <a:off x="1303020" y="4907995"/>
            <a:ext cx="4745705" cy="1424940"/>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45424B"/>
                </a:solidFill>
                <a:latin typeface="Arial" pitchFamily="34" charset="0"/>
                <a:ea typeface="Arial" pitchFamily="34" charset="-122"/>
                <a:cs typeface="Arial" pitchFamily="34" charset="-120"/>
              </a:rPr>
              <a:t>Kod ispravnih predikcija sve tri metode usmjeravaju pažnju na niske frekvencije — regije smislene iz ugla biomedicinskog signala.</a:t>
            </a:r>
            <a:endParaRPr lang="en-US" sz="1950" dirty="0"/>
          </a:p>
        </p:txBody>
      </p:sp>
      <p:sp>
        <p:nvSpPr>
          <p:cNvPr id="7" name="Shape 5"/>
          <p:cNvSpPr/>
          <p:nvPr/>
        </p:nvSpPr>
        <p:spPr>
          <a:xfrm>
            <a:off x="6489621" y="4126944"/>
            <a:ext cx="5308640" cy="2518410"/>
          </a:xfrm>
          <a:prstGeom prst="roundRect">
            <a:avLst>
              <a:gd name="adj" fmla="val 4539"/>
            </a:avLst>
          </a:prstGeom>
          <a:solidFill>
            <a:srgbClr val="FFFFFF"/>
          </a:solidFill>
          <a:ln w="7620">
            <a:solidFill>
              <a:srgbClr val="E7E2D7"/>
            </a:solidFill>
            <a:prstDash val="solid"/>
          </a:ln>
        </p:spPr>
      </p:sp>
      <p:sp>
        <p:nvSpPr>
          <p:cNvPr id="8" name="Text 6"/>
          <p:cNvSpPr/>
          <p:nvPr/>
        </p:nvSpPr>
        <p:spPr>
          <a:xfrm>
            <a:off x="6840141" y="4477464"/>
            <a:ext cx="5068360" cy="33528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A3FB0"/>
                </a:solidFill>
                <a:latin typeface="Courier New" pitchFamily="34" charset="0"/>
                <a:ea typeface="Courier New" pitchFamily="34" charset="-122"/>
                <a:cs typeface="Courier New" pitchFamily="34" charset="-120"/>
              </a:rPr>
              <a:t>RAZLIKE</a:t>
            </a:r>
            <a:endParaRPr lang="en-US" sz="1800" dirty="0"/>
          </a:p>
        </p:txBody>
      </p:sp>
      <p:sp>
        <p:nvSpPr>
          <p:cNvPr id="9" name="Text 7"/>
          <p:cNvSpPr/>
          <p:nvPr/>
        </p:nvSpPr>
        <p:spPr>
          <a:xfrm>
            <a:off x="6840141" y="4907995"/>
            <a:ext cx="4745828" cy="1424940"/>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45424B"/>
                </a:solidFill>
                <a:latin typeface="Arial" pitchFamily="34" charset="0"/>
                <a:ea typeface="Arial" pitchFamily="34" charset="-122"/>
                <a:cs typeface="Arial" pitchFamily="34" charset="-120"/>
              </a:rPr>
              <a:t>Grad-CAM je najpregledniji, LIME lokalniji ali zavisan od segmentacije, Integrated Gradients najdetaljniji ali najteži za čitanje.</a:t>
            </a:r>
            <a:endParaRPr lang="en-US" sz="1950" dirty="0"/>
          </a:p>
        </p:txBody>
      </p:sp>
      <p:sp>
        <p:nvSpPr>
          <p:cNvPr id="10" name="Shape 8"/>
          <p:cNvSpPr/>
          <p:nvPr/>
        </p:nvSpPr>
        <p:spPr>
          <a:xfrm>
            <a:off x="12026860" y="4126944"/>
            <a:ext cx="5308640" cy="2518410"/>
          </a:xfrm>
          <a:prstGeom prst="roundRect">
            <a:avLst>
              <a:gd name="adj" fmla="val 4539"/>
            </a:avLst>
          </a:prstGeom>
          <a:solidFill>
            <a:srgbClr val="EFE9F8"/>
          </a:solidFill>
          <a:ln w="7620">
            <a:solidFill>
              <a:srgbClr val="DCCFF2"/>
            </a:solidFill>
            <a:prstDash val="solid"/>
          </a:ln>
        </p:spPr>
      </p:sp>
      <p:sp>
        <p:nvSpPr>
          <p:cNvPr id="11" name="Text 9"/>
          <p:cNvSpPr/>
          <p:nvPr/>
        </p:nvSpPr>
        <p:spPr>
          <a:xfrm>
            <a:off x="12377381" y="4477464"/>
            <a:ext cx="5068360" cy="33528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5A2FA0"/>
                </a:solidFill>
                <a:latin typeface="Courier New" pitchFamily="34" charset="0"/>
                <a:ea typeface="Courier New" pitchFamily="34" charset="-122"/>
                <a:cs typeface="Courier New" pitchFamily="34" charset="-120"/>
              </a:rPr>
              <a:t>VRIJEDNOST</a:t>
            </a:r>
            <a:endParaRPr lang="en-US" sz="1800" dirty="0"/>
          </a:p>
        </p:txBody>
      </p:sp>
      <p:sp>
        <p:nvSpPr>
          <p:cNvPr id="12" name="Text 10"/>
          <p:cNvSpPr/>
          <p:nvPr/>
        </p:nvSpPr>
        <p:spPr>
          <a:xfrm>
            <a:off x="12377381" y="4907995"/>
            <a:ext cx="4745828" cy="1424940"/>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3A2C5A"/>
                </a:solidFill>
                <a:latin typeface="Arial" pitchFamily="34" charset="0"/>
                <a:ea typeface="Arial" pitchFamily="34" charset="-122"/>
                <a:cs typeface="Arial" pitchFamily="34" charset="-120"/>
              </a:rPr>
              <a:t>Kod grešaka otkrivaju kada se model oslanja na šum i artefakte — koristan alat za provjeru, ne zamjena za medicinsku interpretaciju.</a:t>
            </a:r>
            <a:endParaRPr lang="en-US" sz="1950" dirty="0"/>
          </a:p>
        </p:txBody>
      </p:sp>
      <p:sp>
        <p:nvSpPr>
          <p:cNvPr id="13" name="Shape 11"/>
          <p:cNvSpPr/>
          <p:nvPr/>
        </p:nvSpPr>
        <p:spPr>
          <a:xfrm>
            <a:off x="952500" y="8884920"/>
            <a:ext cx="16383000" cy="9525"/>
          </a:xfrm>
          <a:prstGeom prst="rect">
            <a:avLst/>
          </a:prstGeom>
          <a:solidFill>
            <a:srgbClr val="DDD7CB"/>
          </a:solidFill>
          <a:ln/>
        </p:spPr>
      </p:sp>
      <p:sp>
        <p:nvSpPr>
          <p:cNvPr id="14" name="Text 12"/>
          <p:cNvSpPr/>
          <p:nvPr/>
        </p:nvSpPr>
        <p:spPr>
          <a:xfrm>
            <a:off x="952500" y="9159240"/>
            <a:ext cx="2149197" cy="365760"/>
          </a:xfrm>
          <a:prstGeom prst="rect">
            <a:avLst/>
          </a:prstGeom>
          <a:noFill/>
          <a:ln/>
        </p:spPr>
        <p:txBody>
          <a:bodyPr wrap="square" lIns="25400" tIns="25400" rIns="25400" bIns="25400" rtlCol="0" anchor="t">
            <a:normAutofit/>
          </a:bodyPr>
          <a:lstStyle/>
          <a:p>
            <a:pPr algn="l" indent="0" marL="0">
              <a:buNone/>
            </a:pPr>
            <a:r>
              <a:rPr lang="en-US" sz="2250" b="1" dirty="0">
                <a:solidFill>
                  <a:srgbClr val="221F29"/>
                </a:solidFill>
                <a:latin typeface="Arial" pitchFamily="34" charset="0"/>
                <a:ea typeface="Arial" pitchFamily="34" charset="-122"/>
                <a:cs typeface="Arial" pitchFamily="34" charset="-120"/>
              </a:rPr>
              <a:t>Hvala na pažnji</a:t>
            </a:r>
            <a:endParaRPr lang="en-US" sz="2250" dirty="0"/>
          </a:p>
        </p:txBody>
      </p:sp>
      <p:sp>
        <p:nvSpPr>
          <p:cNvPr id="15" name="Text 13"/>
          <p:cNvSpPr/>
          <p:nvPr/>
        </p:nvSpPr>
        <p:spPr>
          <a:xfrm>
            <a:off x="11163300" y="9174480"/>
            <a:ext cx="6789420" cy="335280"/>
          </a:xfrm>
          <a:prstGeom prst="rect">
            <a:avLst/>
          </a:prstGeom>
          <a:noFill/>
          <a:ln/>
        </p:spPr>
        <p:txBody>
          <a:bodyPr wrap="square" lIns="25400" tIns="25400" rIns="25400" bIns="25400" rtlCol="0" anchor="t">
            <a:normAutofit/>
          </a:bodyPr>
          <a:lstStyle/>
          <a:p>
            <a:pPr algn="l" indent="0" marL="0">
              <a:buNone/>
            </a:pPr>
            <a:r>
              <a:rPr lang="en-US" sz="1800" dirty="0">
                <a:solidFill>
                  <a:srgbClr val="8A857C"/>
                </a:solidFill>
                <a:latin typeface="Courier New" pitchFamily="34" charset="0"/>
                <a:ea typeface="Courier New" pitchFamily="34" charset="-122"/>
                <a:cs typeface="Courier New" pitchFamily="34" charset="-120"/>
              </a:rPr>
              <a:t>Irma Šarić · Metode objašnjivosti CNN-a (XAI)</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2026-06-21T20:50:42Z</dcterms:created>
  <dcterms:modified xsi:type="dcterms:W3CDTF">2026-06-21T20:50:42Z</dcterms:modified>
</cp:coreProperties>
</file>